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 am presenting BookMyStars, a full-stack talent management and casting platform engineered using React 18, Vite, Spring Boot 3, and PostgreSQL. I will walk you through the system architecture, frontend and backend request lifecycle, frontend routing, and the core modules we developed.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entertainment casting industry, actors and models struggle with fragmented portfolios and upload limits for 4K video showreels. BookMyStars provides an integrated solution: a 100MB media upload pipeline, verified physical measurements, dynamic talent discovery with zero mock data, and Instagram-style profile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architectural overview. The frontend is a React Single Page Application on port 5173. During development, Vite acts as a reverse proxy, forwarding requests to the Spring Boot backend on port 8080. The backend validates the JWT token in a security filter chain before passing the request to controllers, services, and the PostgreSQL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explaining the frontend to evaluators, mention that BookMyStars is a Single Page Application. It uses React Router v7 for client-side routing. Navigating from /dashboard to /public-profile does not make a server request for a new HTML page; instead, the browser's History API handles the route and mounts the component. We also implemented Optimistic UI updates for a seamless user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backend, every incoming request passes through Spring Security's JwtAuthenticationFilter. If valid, the Controller maps the payload to DTOs. The Service layer enforces business rules, like checking if a profile is private and stripping sensitive photos and measurements. Finally, Spring Data JPA and Hibernate query PostgreSQL and return the serialized JSON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our flagship features: the Instagram-style Public vs. Private mechanism. We placed a toggle switch right next to the user's photo. When private, unauthorized viewers cannot access photos or measurements. We enforce true security at the API layer by stripping sensitive data in Java, not just hiding it with CSS. Viewers can submit access requests, which the talent reviews and approves from a dedicated modal.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Talent Dashboard consolidates all critical casting data. It calculates age dynamically from the date of birth, shows active roles, and visualizes physical measurements over an SVG body silhouette so casting agents have exact sizing specifications.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Handling high-definition 4K video reels was a critical engineering challenge. On the backend, we configured 100MB multipart file limits and static progressive streaming handlers. On the frontend, we solved thumbnail generation without server-side FFmpeg by using HTML5 Canvas to capture the first frame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casting agencies and directors, we created the Professional Dashboard. All hardcoded mock users were removed; it queries PostgreSQL to display only real, registered talents. Professionals can inspect high-resolution portfolios, video reels, and measurements while role-based guardrails safeguard system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monetize talent work, we implemented Shoot Packages and Shoot Booking requests. Talents also have a One-Click Sharing dialog that generates direct WhatsApp, Gmail, and Outlook invitations containing their official talent code and portfolio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answering questions during the evaluation, refer to this glossary. Highlight terms like Single Page Application, Stateless JWT Authentication, DTO Pattern, Optimistic UI, and Client-Side Canvas Processing to demonstrate deep full-stack mastery.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these four steps for your live demonstration: 1. Show the talent dashboard and the privacy toggle switch next to the photo. 2. Open an incognito window to show the locked private profile screen and submit an access request. 3. Return to the talent dashboard, review the notification banner, and approve the request. 4. Refresh incognito to show the unlocked media. Finally, show the professional dashboard with real registered talent.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BookMyStars solves core industry casting challenges with a production-ready full-stack architecture. For our future roadmap, we plan to integrate escrow payments with Razorpay, real-time messaging using WebSockets, and an AI casting matchmaker. Thank you, and I am now open to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14400" y="1645920"/>
            <a:ext cx="10360152" cy="731520"/>
          </a:xfrm>
          <a:prstGeom prst="rect">
            <a:avLst/>
          </a:prstGeom>
          <a:noFill/>
          <a:ln/>
        </p:spPr>
        <p:txBody>
          <a:bodyPr wrap="square" rtlCol="0" anchor="ctr"/>
          <a:lstStyle/>
          <a:p>
            <a:pPr indent="0" marL="0">
              <a:buNone/>
            </a:pPr>
            <a:r>
              <a:rPr lang="en-US" sz="4000" b="1" dirty="0">
                <a:solidFill>
                  <a:srgbClr val="7C3AED"/>
                </a:solidFill>
                <a:latin typeface="Arial" pitchFamily="34" charset="0"/>
                <a:ea typeface="Arial" pitchFamily="34" charset="-122"/>
                <a:cs typeface="Arial" pitchFamily="34" charset="-120"/>
              </a:rPr>
              <a:t>🎬 BOOKMYSTARS</a:t>
            </a:r>
            <a:endParaRPr lang="en-US" sz="4000" dirty="0"/>
          </a:p>
        </p:txBody>
      </p:sp>
      <p:sp>
        <p:nvSpPr>
          <p:cNvPr id="3" name="Text 1"/>
          <p:cNvSpPr/>
          <p:nvPr/>
        </p:nvSpPr>
        <p:spPr>
          <a:xfrm>
            <a:off x="914400" y="2468880"/>
            <a:ext cx="10360152" cy="548640"/>
          </a:xfrm>
          <a:prstGeom prst="rect">
            <a:avLst/>
          </a:prstGeom>
          <a:noFill/>
          <a:ln/>
        </p:spPr>
        <p:txBody>
          <a:bodyPr wrap="square" rtlCol="0" anchor="ctr"/>
          <a:lstStyle/>
          <a:p>
            <a:pPr indent="0" marL="0">
              <a:buNone/>
            </a:pPr>
            <a:r>
              <a:rPr lang="en-US" sz="2400" b="1" dirty="0">
                <a:solidFill>
                  <a:srgbClr val="F8FAFC"/>
                </a:solidFill>
                <a:latin typeface="Arial" pitchFamily="34" charset="0"/>
                <a:ea typeface="Arial" pitchFamily="34" charset="-122"/>
                <a:cs typeface="Arial" pitchFamily="34" charset="-120"/>
              </a:rPr>
              <a:t>Full-Stack Enterprise Talent, Casting &amp; Media Platform</a:t>
            </a:r>
            <a:endParaRPr lang="en-US" sz="2400" dirty="0"/>
          </a:p>
        </p:txBody>
      </p:sp>
      <p:sp>
        <p:nvSpPr>
          <p:cNvPr id="4" name="Text 2"/>
          <p:cNvSpPr/>
          <p:nvPr/>
        </p:nvSpPr>
        <p:spPr>
          <a:xfrm>
            <a:off x="914400" y="3108960"/>
            <a:ext cx="10360152" cy="457200"/>
          </a:xfrm>
          <a:prstGeom prst="rect">
            <a:avLst/>
          </a:prstGeom>
          <a:noFill/>
          <a:ln/>
        </p:spPr>
        <p:txBody>
          <a:bodyPr wrap="square" rtlCol="0" anchor="ctr"/>
          <a:lstStyle/>
          <a:p>
            <a:pPr indent="0" marL="0">
              <a:buNone/>
            </a:pPr>
            <a:r>
              <a:rPr lang="en-US" sz="1500" dirty="0">
                <a:solidFill>
                  <a:srgbClr val="38BDF8"/>
                </a:solidFill>
                <a:latin typeface="Arial" pitchFamily="34" charset="0"/>
                <a:ea typeface="Arial" pitchFamily="34" charset="-122"/>
                <a:cs typeface="Arial" pitchFamily="34" charset="-120"/>
              </a:rPr>
              <a:t>End-to-End System Walkthrough, Architecture, Frontend Routing &amp; Technical Deep Dive</a:t>
            </a:r>
            <a:endParaRPr lang="en-US" sz="1500" dirty="0"/>
          </a:p>
        </p:txBody>
      </p:sp>
      <p:sp>
        <p:nvSpPr>
          <p:cNvPr id="5" name="Shape 3"/>
          <p:cNvSpPr/>
          <p:nvPr/>
        </p:nvSpPr>
        <p:spPr>
          <a:xfrm>
            <a:off x="914400" y="3931920"/>
            <a:ext cx="10360152" cy="1645920"/>
          </a:xfrm>
          <a:prstGeom prst="rect">
            <a:avLst/>
          </a:prstGeom>
          <a:solidFill>
            <a:srgbClr val="1E293B"/>
          </a:solidFill>
          <a:ln w="12700">
            <a:solidFill>
              <a:srgbClr val="334155"/>
            </a:solidFill>
            <a:prstDash val="solid"/>
          </a:ln>
        </p:spPr>
      </p:sp>
      <p:sp>
        <p:nvSpPr>
          <p:cNvPr id="6" name="Text 4"/>
          <p:cNvSpPr/>
          <p:nvPr/>
        </p:nvSpPr>
        <p:spPr>
          <a:xfrm>
            <a:off x="1188720" y="4114800"/>
            <a:ext cx="9784080" cy="1280160"/>
          </a:xfrm>
          <a:prstGeom prst="rect">
            <a:avLst/>
          </a:prstGeom>
          <a:noFill/>
          <a:ln/>
        </p:spPr>
        <p:txBody>
          <a:bodyPr wrap="square" rtlCol="0" anchor="ctr"/>
          <a:lstStyle/>
          <a:p>
            <a:pPr indent="0" marL="0">
              <a:buNone/>
            </a:pPr>
            <a:r>
              <a:rPr lang="en-US" sz="1300" b="1" dirty="0">
                <a:solidFill>
                  <a:srgbClr val="F8FAFC"/>
                </a:solidFill>
                <a:latin typeface="Arial" pitchFamily="34" charset="0"/>
                <a:ea typeface="Arial" pitchFamily="34" charset="-122"/>
                <a:cs typeface="Arial" pitchFamily="34" charset="-120"/>
              </a:rPr>
              <a:t>Technology Stack: </a:t>
            </a:r>
            <a:pPr indent="0" marL="0">
              <a:buNone/>
            </a:pPr>
            <a:r>
              <a:rPr lang="en-US" sz="1300" dirty="0">
                <a:solidFill>
                  <a:srgbClr val="94A3B8"/>
                </a:solidFill>
                <a:latin typeface="Arial" pitchFamily="34" charset="0"/>
                <a:ea typeface="Arial" pitchFamily="34" charset="-122"/>
                <a:cs typeface="Arial" pitchFamily="34" charset="-120"/>
              </a:rPr>
              <a:t>React 18 + Vite | Spring Boot 3 REST | PostgreSQL | JWT Security | TailwindCSS
</a:t>
            </a:r>
            <a:pPr indent="0" marL="0">
              <a:buNone/>
            </a:pPr>
            <a:r>
              <a:rPr lang="en-US" sz="1300" b="1" dirty="0">
                <a:solidFill>
                  <a:srgbClr val="F8FAFC"/>
                </a:solidFill>
                <a:latin typeface="Arial" pitchFamily="34" charset="0"/>
                <a:ea typeface="Arial" pitchFamily="34" charset="-122"/>
                <a:cs typeface="Arial" pitchFamily="34" charset="-120"/>
              </a:rPr>
              <a:t>Key Modules: </a:t>
            </a:r>
            <a:pPr indent="0" marL="0">
              <a:buNone/>
            </a:pPr>
            <a:r>
              <a:rPr lang="en-US" sz="1300" dirty="0">
                <a:solidFill>
                  <a:srgbClr val="94A3B8"/>
                </a:solidFill>
                <a:latin typeface="Arial" pitchFamily="34" charset="0"/>
                <a:ea typeface="Arial" pitchFamily="34" charset="-122"/>
                <a:cs typeface="Arial" pitchFamily="34" charset="-120"/>
              </a:rPr>
              <a:t>Instagram-Style Privacy | Dynamic Discovery | 100MB 4K Media Streaming | Shoot Bookings
</a:t>
            </a:r>
            <a:pPr indent="0" marL="0">
              <a:buNone/>
            </a:pPr>
            <a:r>
              <a:rPr lang="en-US" sz="1300" b="1" dirty="0">
                <a:solidFill>
                  <a:srgbClr val="F8FAFC"/>
                </a:solidFill>
                <a:latin typeface="Arial" pitchFamily="34" charset="0"/>
                <a:ea typeface="Arial" pitchFamily="34" charset="-122"/>
                <a:cs typeface="Arial" pitchFamily="34" charset="-120"/>
              </a:rPr>
              <a:t>Architecture: </a:t>
            </a:r>
            <a:pPr indent="0" marL="0">
              <a:buNone/>
            </a:pPr>
            <a:r>
              <a:rPr lang="en-US" sz="1300" dirty="0">
                <a:solidFill>
                  <a:srgbClr val="94A3B8"/>
                </a:solidFill>
                <a:latin typeface="Arial" pitchFamily="34" charset="0"/>
                <a:ea typeface="Arial" pitchFamily="34" charset="-122"/>
                <a:cs typeface="Arial" pitchFamily="34" charset="-120"/>
              </a:rPr>
              <a:t>Single Page Application (SPA) + Stateless Micro-Tier Backend with RBAC</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293B"/>
          </a:solidFill>
          <a:ln w="25400">
            <a:solidFill>
              <a:srgbClr val="7C3AED"/>
            </a:solidFill>
            <a:prstDash val="solid"/>
          </a:ln>
        </p:spPr>
      </p:sp>
      <p:sp>
        <p:nvSpPr>
          <p:cNvPr id="3" name="Text 1"/>
          <p:cNvSpPr/>
          <p:nvPr/>
        </p:nvSpPr>
        <p:spPr>
          <a:xfrm>
            <a:off x="731520" y="137160"/>
            <a:ext cx="8686800" cy="50292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1. Executive Summary &amp; Problem vs. Solution</a:t>
            </a:r>
            <a:endParaRPr lang="en-US" sz="2200" dirty="0"/>
          </a:p>
        </p:txBody>
      </p:sp>
      <p:sp>
        <p:nvSpPr>
          <p:cNvPr id="4" name="Text 2"/>
          <p:cNvSpPr/>
          <p:nvPr/>
        </p:nvSpPr>
        <p:spPr>
          <a:xfrm>
            <a:off x="731520" y="594360"/>
            <a:ext cx="86868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Why BookMyStars was engineered and what real-world industry problems it solves</a:t>
            </a:r>
            <a:endParaRPr lang="en-US" sz="1200" dirty="0"/>
          </a:p>
        </p:txBody>
      </p:sp>
      <p:sp>
        <p:nvSpPr>
          <p:cNvPr id="5" name="Text 3"/>
          <p:cNvSpPr/>
          <p:nvPr/>
        </p:nvSpPr>
        <p:spPr>
          <a:xfrm>
            <a:off x="8686800" y="365760"/>
            <a:ext cx="292608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BookMyStars Enterprise Architecture</a:t>
            </a:r>
            <a:endParaRPr lang="en-US" sz="1000" dirty="0"/>
          </a:p>
        </p:txBody>
      </p:sp>
      <p:sp>
        <p:nvSpPr>
          <p:cNvPr id="6" name="Shape 4"/>
          <p:cNvSpPr/>
          <p:nvPr/>
        </p:nvSpPr>
        <p:spPr>
          <a:xfrm>
            <a:off x="731520" y="1371600"/>
            <a:ext cx="5120640" cy="4663440"/>
          </a:xfrm>
          <a:prstGeom prst="rect">
            <a:avLst/>
          </a:prstGeom>
          <a:solidFill>
            <a:srgbClr val="1E293B"/>
          </a:solidFill>
          <a:ln w="12700">
            <a:solidFill>
              <a:srgbClr val="EF4444"/>
            </a:solidFill>
            <a:prstDash val="solid"/>
          </a:ln>
        </p:spPr>
      </p:sp>
      <p:sp>
        <p:nvSpPr>
          <p:cNvPr id="7" name="Text 5"/>
          <p:cNvSpPr/>
          <p:nvPr/>
        </p:nvSpPr>
        <p:spPr>
          <a:xfrm>
            <a:off x="1005840" y="1645920"/>
            <a:ext cx="4572000" cy="365760"/>
          </a:xfrm>
          <a:prstGeom prst="rect">
            <a:avLst/>
          </a:prstGeom>
          <a:noFill/>
          <a:ln/>
        </p:spPr>
        <p:txBody>
          <a:bodyPr wrap="square" rtlCol="0" anchor="ctr"/>
          <a:lstStyle/>
          <a:p>
            <a:pPr indent="0" marL="0">
              <a:buNone/>
            </a:pPr>
            <a:r>
              <a:rPr lang="en-US" sz="1600" b="1" dirty="0">
                <a:solidFill>
                  <a:srgbClr val="EF4444"/>
                </a:solidFill>
                <a:latin typeface="Arial" pitchFamily="34" charset="0"/>
                <a:ea typeface="Arial" pitchFamily="34" charset="-122"/>
                <a:cs typeface="Arial" pitchFamily="34" charset="-120"/>
              </a:rPr>
              <a:t>❌ The Industry Bottlenecks</a:t>
            </a:r>
            <a:endParaRPr lang="en-US" sz="1600" dirty="0"/>
          </a:p>
        </p:txBody>
      </p:sp>
      <p:sp>
        <p:nvSpPr>
          <p:cNvPr id="8" name="Text 6"/>
          <p:cNvSpPr/>
          <p:nvPr/>
        </p:nvSpPr>
        <p:spPr>
          <a:xfrm>
            <a:off x="1005840" y="2103120"/>
            <a:ext cx="4572000" cy="374904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Fragmented Portfolios:
</a:t>
            </a:r>
            <a:pPr indent="0" marL="0">
              <a:buNone/>
            </a:pPr>
            <a:r>
              <a:rPr lang="en-US" sz="1150" dirty="0">
                <a:solidFill>
                  <a:srgbClr val="94A3B8"/>
                </a:solidFill>
                <a:latin typeface="Arial" pitchFamily="34" charset="0"/>
                <a:ea typeface="Arial" pitchFamily="34" charset="-122"/>
                <a:cs typeface="Arial" pitchFamily="34" charset="-120"/>
              </a:rPr>
              <a:t>Talent photos, videos, and stats are scattered across multiple websites, causing loss of casting opportunities.
</a:t>
            </a:r>
            <a:pPr indent="0" marL="0">
              <a:buNone/>
            </a:pPr>
            <a:r>
              <a:rPr lang="en-US" sz="1150" b="1" dirty="0">
                <a:solidFill>
                  <a:srgbClr val="F8FAFC"/>
                </a:solidFill>
                <a:latin typeface="Arial" pitchFamily="34" charset="0"/>
                <a:ea typeface="Arial" pitchFamily="34" charset="-122"/>
                <a:cs typeface="Arial" pitchFamily="34" charset="-120"/>
              </a:rPr>
              <a:t>• High-Definition Upload Failures:
</a:t>
            </a:r>
            <a:pPr indent="0" marL="0">
              <a:buNone/>
            </a:pPr>
            <a:r>
              <a:rPr lang="en-US" sz="1150" dirty="0">
                <a:solidFill>
                  <a:srgbClr val="94A3B8"/>
                </a:solidFill>
                <a:latin typeface="Arial" pitchFamily="34" charset="0"/>
                <a:ea typeface="Arial" pitchFamily="34" charset="-122"/>
                <a:cs typeface="Arial" pitchFamily="34" charset="-120"/>
              </a:rPr>
              <a:t>Default web servers reject 4K video showreels due to 1MB/10MB file limits.
</a:t>
            </a:r>
            <a:pPr indent="0" marL="0">
              <a:buNone/>
            </a:pPr>
            <a:r>
              <a:rPr lang="en-US" sz="1150" b="1" dirty="0">
                <a:solidFill>
                  <a:srgbClr val="F8FAFC"/>
                </a:solidFill>
                <a:latin typeface="Arial" pitchFamily="34" charset="0"/>
                <a:ea typeface="Arial" pitchFamily="34" charset="-122"/>
                <a:cs typeface="Arial" pitchFamily="34" charset="-120"/>
              </a:rPr>
              <a:t>• Unstandardized Physical Measurements:
</a:t>
            </a:r>
            <a:pPr indent="0" marL="0">
              <a:buNone/>
            </a:pPr>
            <a:r>
              <a:rPr lang="en-US" sz="1150" dirty="0">
                <a:solidFill>
                  <a:srgbClr val="94A3B8"/>
                </a:solidFill>
                <a:latin typeface="Arial" pitchFamily="34" charset="0"/>
                <a:ea typeface="Arial" pitchFamily="34" charset="-122"/>
                <a:cs typeface="Arial" pitchFamily="34" charset="-120"/>
              </a:rPr>
              <a:t>Lack of verified height, bust, waist, and hips specs leads to rejected auditions.
</a:t>
            </a:r>
            <a:pPr indent="0" marL="0">
              <a:buNone/>
            </a:pPr>
            <a:r>
              <a:rPr lang="en-US" sz="1150" b="1" dirty="0">
                <a:solidFill>
                  <a:srgbClr val="F8FAFC"/>
                </a:solidFill>
                <a:latin typeface="Arial" pitchFamily="34" charset="0"/>
                <a:ea typeface="Arial" pitchFamily="34" charset="-122"/>
                <a:cs typeface="Arial" pitchFamily="34" charset="-120"/>
              </a:rPr>
              <a:t>• Hardcoded / Mock Data in Legacy Portals:
</a:t>
            </a:r>
            <a:pPr indent="0" marL="0">
              <a:buNone/>
            </a:pPr>
            <a:r>
              <a:rPr lang="en-US" sz="1150" dirty="0">
                <a:solidFill>
                  <a:srgbClr val="94A3B8"/>
                </a:solidFill>
                <a:latin typeface="Arial" pitchFamily="34" charset="0"/>
                <a:ea typeface="Arial" pitchFamily="34" charset="-122"/>
                <a:cs typeface="Arial" pitchFamily="34" charset="-120"/>
              </a:rPr>
              <a:t>Fake placeholders prevent casting agencies from viewing real registered talent.</a:t>
            </a:r>
            <a:endParaRPr lang="en-US" sz="1150" dirty="0"/>
          </a:p>
        </p:txBody>
      </p:sp>
      <p:sp>
        <p:nvSpPr>
          <p:cNvPr id="9" name="Shape 7"/>
          <p:cNvSpPr/>
          <p:nvPr/>
        </p:nvSpPr>
        <p:spPr>
          <a:xfrm>
            <a:off x="6217920" y="1371600"/>
            <a:ext cx="5212080" cy="4663440"/>
          </a:xfrm>
          <a:prstGeom prst="rect">
            <a:avLst/>
          </a:prstGeom>
          <a:solidFill>
            <a:srgbClr val="1E293B"/>
          </a:solidFill>
          <a:ln w="12700">
            <a:solidFill>
              <a:srgbClr val="10B981"/>
            </a:solidFill>
            <a:prstDash val="solid"/>
          </a:ln>
        </p:spPr>
      </p:sp>
      <p:sp>
        <p:nvSpPr>
          <p:cNvPr id="10" name="Text 8"/>
          <p:cNvSpPr/>
          <p:nvPr/>
        </p:nvSpPr>
        <p:spPr>
          <a:xfrm>
            <a:off x="6492240" y="1645920"/>
            <a:ext cx="4663440" cy="365760"/>
          </a:xfrm>
          <a:prstGeom prst="rect">
            <a:avLst/>
          </a:prstGeom>
          <a:noFill/>
          <a:ln/>
        </p:spPr>
        <p:txBody>
          <a:bodyPr wrap="square" rtlCol="0" anchor="ctr"/>
          <a:lstStyle/>
          <a:p>
            <a:pPr indent="0" marL="0">
              <a:buNone/>
            </a:pPr>
            <a:r>
              <a:rPr lang="en-US" sz="1600" b="1" dirty="0">
                <a:solidFill>
                  <a:srgbClr val="10B981"/>
                </a:solidFill>
                <a:latin typeface="Arial" pitchFamily="34" charset="0"/>
                <a:ea typeface="Arial" pitchFamily="34" charset="-122"/>
                <a:cs typeface="Arial" pitchFamily="34" charset="-120"/>
              </a:rPr>
              <a:t>✔ The BookMyStars Engineering Solution</a:t>
            </a:r>
            <a:endParaRPr lang="en-US" sz="1600" dirty="0"/>
          </a:p>
        </p:txBody>
      </p:sp>
      <p:sp>
        <p:nvSpPr>
          <p:cNvPr id="11" name="Text 9"/>
          <p:cNvSpPr/>
          <p:nvPr/>
        </p:nvSpPr>
        <p:spPr>
          <a:xfrm>
            <a:off x="6492240" y="2103120"/>
            <a:ext cx="4663440" cy="374904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Unified Digital Portfolio:
</a:t>
            </a:r>
            <a:pPr indent="0" marL="0">
              <a:buNone/>
            </a:pPr>
            <a:r>
              <a:rPr lang="en-US" sz="1150" dirty="0">
                <a:solidFill>
                  <a:srgbClr val="94A3B8"/>
                </a:solidFill>
                <a:latin typeface="Arial" pitchFamily="34" charset="0"/>
                <a:ea typeface="Arial" pitchFamily="34" charset="-122"/>
                <a:cs typeface="Arial" pitchFamily="34" charset="-120"/>
              </a:rPr>
              <a:t>Single link containing bio, rates, verified photo portfolio, video showreels, and client reviews.
</a:t>
            </a:r>
            <a:pPr indent="0" marL="0">
              <a:buNone/>
            </a:pPr>
            <a:r>
              <a:rPr lang="en-US" sz="1150" b="1" dirty="0">
                <a:solidFill>
                  <a:srgbClr val="F8FAFC"/>
                </a:solidFill>
                <a:latin typeface="Arial" pitchFamily="34" charset="0"/>
                <a:ea typeface="Arial" pitchFamily="34" charset="-122"/>
                <a:cs typeface="Arial" pitchFamily="34" charset="-120"/>
              </a:rPr>
              <a:t>• 100MB High-Performance Upload Pipeline:
</a:t>
            </a:r>
            <a:pPr indent="0" marL="0">
              <a:buNone/>
            </a:pPr>
            <a:r>
              <a:rPr lang="en-US" sz="1150" dirty="0">
                <a:solidFill>
                  <a:srgbClr val="94A3B8"/>
                </a:solidFill>
                <a:latin typeface="Arial" pitchFamily="34" charset="0"/>
                <a:ea typeface="Arial" pitchFamily="34" charset="-122"/>
                <a:cs typeface="Arial" pitchFamily="34" charset="-120"/>
              </a:rPr>
              <a:t>Spring Boot multipart streaming pipeline with client-side HTML5 canvas auto-thumbnails.
</a:t>
            </a:r>
            <a:pPr indent="0" marL="0">
              <a:buNone/>
            </a:pPr>
            <a:r>
              <a:rPr lang="en-US" sz="1150" b="1" dirty="0">
                <a:solidFill>
                  <a:srgbClr val="F8FAFC"/>
                </a:solidFill>
                <a:latin typeface="Arial" pitchFamily="34" charset="0"/>
                <a:ea typeface="Arial" pitchFamily="34" charset="-122"/>
                <a:cs typeface="Arial" pitchFamily="34" charset="-120"/>
              </a:rPr>
              <a:t>• Instagram-Style Public vs. Private Profiles:
</a:t>
            </a:r>
            <a:pPr indent="0" marL="0">
              <a:buNone/>
            </a:pPr>
            <a:r>
              <a:rPr lang="en-US" sz="1150" dirty="0">
                <a:solidFill>
                  <a:srgbClr val="94A3B8"/>
                </a:solidFill>
                <a:latin typeface="Arial" pitchFamily="34" charset="0"/>
                <a:ea typeface="Arial" pitchFamily="34" charset="-122"/>
                <a:cs typeface="Arial" pitchFamily="34" charset="-120"/>
              </a:rPr>
              <a:t>Privacy toggle with backend data stripping and viewer approval workflow.
</a:t>
            </a:r>
            <a:pPr indent="0" marL="0">
              <a:buNone/>
            </a:pPr>
            <a:r>
              <a:rPr lang="en-US" sz="1150" b="1" dirty="0">
                <a:solidFill>
                  <a:srgbClr val="F8FAFC"/>
                </a:solidFill>
                <a:latin typeface="Arial" pitchFamily="34" charset="0"/>
                <a:ea typeface="Arial" pitchFamily="34" charset="-122"/>
                <a:cs typeface="Arial" pitchFamily="34" charset="-120"/>
              </a:rPr>
              <a:t>• 100% Dynamic Database Architecture:
</a:t>
            </a:r>
            <a:pPr indent="0" marL="0">
              <a:buNone/>
            </a:pPr>
            <a:r>
              <a:rPr lang="en-US" sz="1150" dirty="0">
                <a:solidFill>
                  <a:srgbClr val="94A3B8"/>
                </a:solidFill>
                <a:latin typeface="Arial" pitchFamily="34" charset="0"/>
                <a:ea typeface="Arial" pitchFamily="34" charset="-122"/>
                <a:cs typeface="Arial" pitchFamily="34" charset="-120"/>
              </a:rPr>
              <a:t>Zero dummy data; queries PostgreSQL directly for real-time registered talent.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293B"/>
          </a:solidFill>
          <a:ln w="25400">
            <a:solidFill>
              <a:srgbClr val="7C3AED"/>
            </a:solidFill>
            <a:prstDash val="solid"/>
          </a:ln>
        </p:spPr>
      </p:sp>
      <p:sp>
        <p:nvSpPr>
          <p:cNvPr id="3" name="Text 1"/>
          <p:cNvSpPr/>
          <p:nvPr/>
        </p:nvSpPr>
        <p:spPr>
          <a:xfrm>
            <a:off x="731520" y="137160"/>
            <a:ext cx="8686800" cy="50292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2. End-to-End System Architecture &amp; REST Communication</a:t>
            </a:r>
            <a:endParaRPr lang="en-US" sz="2200" dirty="0"/>
          </a:p>
        </p:txBody>
      </p:sp>
      <p:sp>
        <p:nvSpPr>
          <p:cNvPr id="4" name="Text 2"/>
          <p:cNvSpPr/>
          <p:nvPr/>
        </p:nvSpPr>
        <p:spPr>
          <a:xfrm>
            <a:off x="731520" y="594360"/>
            <a:ext cx="86868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How the Client, Vite Proxy, Spring Boot Server, and PostgreSQL interact</a:t>
            </a:r>
            <a:endParaRPr lang="en-US" sz="1200" dirty="0"/>
          </a:p>
        </p:txBody>
      </p:sp>
      <p:sp>
        <p:nvSpPr>
          <p:cNvPr id="5" name="Text 3"/>
          <p:cNvSpPr/>
          <p:nvPr/>
        </p:nvSpPr>
        <p:spPr>
          <a:xfrm>
            <a:off x="8686800" y="365760"/>
            <a:ext cx="292608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BookMyStars Enterprise Architecture</a:t>
            </a:r>
            <a:endParaRPr lang="en-US" sz="1000" dirty="0"/>
          </a:p>
        </p:txBody>
      </p:sp>
      <p:sp>
        <p:nvSpPr>
          <p:cNvPr id="6" name="Shape 4"/>
          <p:cNvSpPr/>
          <p:nvPr/>
        </p:nvSpPr>
        <p:spPr>
          <a:xfrm>
            <a:off x="731520" y="1371600"/>
            <a:ext cx="10698480" cy="4663440"/>
          </a:xfrm>
          <a:prstGeom prst="rect">
            <a:avLst/>
          </a:prstGeom>
          <a:solidFill>
            <a:srgbClr val="1E293B"/>
          </a:solidFill>
          <a:ln w="12700">
            <a:solidFill>
              <a:srgbClr val="7C3AED"/>
            </a:solidFill>
            <a:prstDash val="solid"/>
          </a:ln>
        </p:spPr>
      </p:sp>
      <p:sp>
        <p:nvSpPr>
          <p:cNvPr id="7" name="Text 5"/>
          <p:cNvSpPr/>
          <p:nvPr/>
        </p:nvSpPr>
        <p:spPr>
          <a:xfrm>
            <a:off x="1097280" y="1554480"/>
            <a:ext cx="9966960" cy="429768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CLIENT TIER (React 18 + Vite - Port 5173)
</a:t>
            </a:r>
            <a:pPr indent="0" marL="0">
              <a:buNone/>
            </a:pPr>
            <a:r>
              <a:rPr lang="en-US" sz="1100" dirty="0">
                <a:solidFill>
                  <a:srgbClr val="94A3B8"/>
                </a:solidFill>
                <a:latin typeface="Arial" pitchFamily="34" charset="0"/>
                <a:ea typeface="Arial" pitchFamily="34" charset="-122"/>
                <a:cs typeface="Arial" pitchFamily="34" charset="-120"/>
              </a:rPr>
              <a:t>• User Interface Components (Dashboard, Profile, PublicProfile, Bookings)
• Client-Side Routing (React Router v7) &amp; Browser LocalStorage (JWT Token, User State)
• Axios / Fetch API Service layer managing asynchronous HTTP Requests
</a:t>
            </a:r>
            <a:pPr indent="0" marL="0">
              <a:buNone/>
            </a:pPr>
            <a:r>
              <a:rPr lang="en-US" sz="1300" b="1" dirty="0">
                <a:solidFill>
                  <a:srgbClr val="EC4899"/>
                </a:solidFill>
                <a:latin typeface="Arial" pitchFamily="34" charset="0"/>
                <a:ea typeface="Arial" pitchFamily="34" charset="-122"/>
                <a:cs typeface="Arial" pitchFamily="34" charset="-120"/>
              </a:rPr>
              <a:t>NETWORK &amp; SECURITY BOUNDARY (Vite Reverse Proxy &amp; CORS)
</a:t>
            </a:r>
            <a:pPr indent="0" marL="0">
              <a:buNone/>
            </a:pPr>
            <a:r>
              <a:rPr lang="en-US" sz="1100" dirty="0">
                <a:solidFill>
                  <a:srgbClr val="94A3B8"/>
                </a:solidFill>
                <a:latin typeface="Arial" pitchFamily="34" charset="0"/>
                <a:ea typeface="Arial" pitchFamily="34" charset="-122"/>
                <a:cs typeface="Arial" pitchFamily="34" charset="-120"/>
              </a:rPr>
              <a:t>• Forwards `/api/*` and `/uploads/*` calls to Backend Port 8080 without cross-origin friction
• Carries Stateless HTTP Header: `Authorization: Bearer &lt;JWT_TOKEN&gt;`
</a:t>
            </a:r>
            <a:pPr indent="0" marL="0">
              <a:buNone/>
            </a:pPr>
            <a:r>
              <a:rPr lang="en-US" sz="1300" b="1" dirty="0">
                <a:solidFill>
                  <a:srgbClr val="10B981"/>
                </a:solidFill>
                <a:latin typeface="Arial" pitchFamily="34" charset="0"/>
                <a:ea typeface="Arial" pitchFamily="34" charset="-122"/>
                <a:cs typeface="Arial" pitchFamily="34" charset="-120"/>
              </a:rPr>
              <a:t>APPLICATION TIER (Spring Boot 3 - Port 8080)
</a:t>
            </a:r>
            <a:pPr indent="0" marL="0">
              <a:buNone/>
            </a:pPr>
            <a:r>
              <a:rPr lang="en-US" sz="1100" dirty="0">
                <a:solidFill>
                  <a:srgbClr val="94A3B8"/>
                </a:solidFill>
                <a:latin typeface="Arial" pitchFamily="34" charset="0"/>
                <a:ea typeface="Arial" pitchFamily="34" charset="-122"/>
                <a:cs typeface="Arial" pitchFamily="34" charset="-120"/>
              </a:rPr>
              <a:t>• JwtAuthenticationFilter: Intercepts request, validates claims, populates SecurityContext
• Controller Layer: REST Endpoints (ProfileController, VideoController, UserController)
• Service Layer: Business logic, transactional validation, atomic database UPSERTs
• Repository Layer: Spring Data JPA &amp; Hibernate Object-Relational Mapping
</a:t>
            </a:r>
            <a:pPr indent="0" marL="0">
              <a:buNone/>
            </a:pPr>
            <a:r>
              <a:rPr lang="en-US" sz="1300" b="1" dirty="0">
                <a:solidFill>
                  <a:srgbClr val="F8FAFC"/>
                </a:solidFill>
                <a:latin typeface="Arial" pitchFamily="34" charset="0"/>
                <a:ea typeface="Arial" pitchFamily="34" charset="-122"/>
                <a:cs typeface="Arial" pitchFamily="34" charset="-120"/>
              </a:rPr>
              <a:t>PERSISTENCE TIER (PostgreSQL &amp; Disk File System)
</a:t>
            </a:r>
            <a:pPr indent="0" marL="0">
              <a:buNone/>
            </a:pPr>
            <a:r>
              <a:rPr lang="en-US" sz="1100" dirty="0">
                <a:solidFill>
                  <a:srgbClr val="94A3B8"/>
                </a:solidFill>
                <a:latin typeface="Arial" pitchFamily="34" charset="0"/>
                <a:ea typeface="Arial" pitchFamily="34" charset="-122"/>
                <a:cs typeface="Arial" pitchFamily="34" charset="-120"/>
              </a:rPr>
              <a:t>• PostgreSQL Database: Relational tables (`users`, `profiles`, `videos`, `profile_access_requests`)</a:t>
            </a:r>
            <a:endParaRPr lang="en-US" sz="1300" dirty="0"/>
          </a:p>
          <a:p>
            <a:pPr indent="0" marL="0">
              <a:buNone/>
            </a:pPr>
            <a:r>
              <a:rPr lang="en-US" sz="1100" dirty="0">
                <a:solidFill>
                  <a:srgbClr val="94A3B8"/>
                </a:solidFill>
                <a:latin typeface="Arial" pitchFamily="34" charset="0"/>
                <a:ea typeface="Arial" pitchFamily="34" charset="-122"/>
                <a:cs typeface="Arial" pitchFamily="34" charset="-120"/>
              </a:rPr>
              <a:t>• Disk Storage: High-capacity physical storage for static streaming (`uploads/videos/`, `uploads/portfolio/`)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293B"/>
          </a:solidFill>
          <a:ln w="25400">
            <a:solidFill>
              <a:srgbClr val="7C3AED"/>
            </a:solidFill>
            <a:prstDash val="solid"/>
          </a:ln>
        </p:spPr>
      </p:sp>
      <p:sp>
        <p:nvSpPr>
          <p:cNvPr id="3" name="Text 1"/>
          <p:cNvSpPr/>
          <p:nvPr/>
        </p:nvSpPr>
        <p:spPr>
          <a:xfrm>
            <a:off x="731520" y="137160"/>
            <a:ext cx="8686800" cy="50292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3. Frontend Deep Dive: Single Page Application &amp; Routing</a:t>
            </a:r>
            <a:endParaRPr lang="en-US" sz="2200" dirty="0"/>
          </a:p>
        </p:txBody>
      </p:sp>
      <p:sp>
        <p:nvSpPr>
          <p:cNvPr id="4" name="Text 2"/>
          <p:cNvSpPr/>
          <p:nvPr/>
        </p:nvSpPr>
        <p:spPr>
          <a:xfrm>
            <a:off x="731520" y="594360"/>
            <a:ext cx="86868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What happens in the frontend when a user navigates and clicks?</a:t>
            </a:r>
            <a:endParaRPr lang="en-US" sz="1200" dirty="0"/>
          </a:p>
        </p:txBody>
      </p:sp>
      <p:sp>
        <p:nvSpPr>
          <p:cNvPr id="5" name="Text 3"/>
          <p:cNvSpPr/>
          <p:nvPr/>
        </p:nvSpPr>
        <p:spPr>
          <a:xfrm>
            <a:off x="8686800" y="365760"/>
            <a:ext cx="292608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BookMyStars Enterprise Architecture</a:t>
            </a:r>
            <a:endParaRPr lang="en-US" sz="1000" dirty="0"/>
          </a:p>
        </p:txBody>
      </p:sp>
      <p:sp>
        <p:nvSpPr>
          <p:cNvPr id="6" name="Shape 4"/>
          <p:cNvSpPr/>
          <p:nvPr/>
        </p:nvSpPr>
        <p:spPr>
          <a:xfrm>
            <a:off x="731520" y="1371600"/>
            <a:ext cx="5120640" cy="4663440"/>
          </a:xfrm>
          <a:prstGeom prst="rect">
            <a:avLst/>
          </a:prstGeom>
          <a:solidFill>
            <a:srgbClr val="1E293B"/>
          </a:solidFill>
          <a:ln w="12700">
            <a:solidFill>
              <a:srgbClr val="38BDF8"/>
            </a:solidFill>
            <a:prstDash val="solid"/>
          </a:ln>
        </p:spPr>
      </p:sp>
      <p:sp>
        <p:nvSpPr>
          <p:cNvPr id="7" name="Text 5"/>
          <p:cNvSpPr/>
          <p:nvPr/>
        </p:nvSpPr>
        <p:spPr>
          <a:xfrm>
            <a:off x="1005840" y="1645920"/>
            <a:ext cx="4572000" cy="365760"/>
          </a:xfrm>
          <a:prstGeom prst="rect">
            <a:avLst/>
          </a:prstGeom>
          <a:noFill/>
          <a:ln/>
        </p:spPr>
        <p:txBody>
          <a:bodyPr wrap="square" rtlCol="0" anchor="ctr"/>
          <a:lstStyle/>
          <a:p>
            <a:pPr indent="0" marL="0">
              <a:buNone/>
            </a:pPr>
            <a:r>
              <a:rPr lang="en-US" sz="1500" b="1" dirty="0">
                <a:solidFill>
                  <a:srgbClr val="38BDF8"/>
                </a:solidFill>
                <a:latin typeface="Arial" pitchFamily="34" charset="0"/>
                <a:ea typeface="Arial" pitchFamily="34" charset="-122"/>
                <a:cs typeface="Arial" pitchFamily="34" charset="-120"/>
              </a:rPr>
              <a:t>🌐 SPA vs. Traditional Multi-Page Apps</a:t>
            </a:r>
            <a:endParaRPr lang="en-US" sz="1500" dirty="0"/>
          </a:p>
        </p:txBody>
      </p:sp>
      <p:sp>
        <p:nvSpPr>
          <p:cNvPr id="8" name="Text 6"/>
          <p:cNvSpPr/>
          <p:nvPr/>
        </p:nvSpPr>
        <p:spPr>
          <a:xfrm>
            <a:off x="1005840" y="2103120"/>
            <a:ext cx="4572000" cy="374904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 Single HTML Delivery:
</a:t>
            </a:r>
            <a:pPr indent="0" marL="0">
              <a:buNone/>
            </a:pPr>
            <a:r>
              <a:rPr lang="en-US" sz="1100" dirty="0">
                <a:solidFill>
                  <a:srgbClr val="94A3B8"/>
                </a:solidFill>
                <a:latin typeface="Arial" pitchFamily="34" charset="0"/>
                <a:ea typeface="Arial" pitchFamily="34" charset="-122"/>
                <a:cs typeface="Arial" pitchFamily="34" charset="-120"/>
              </a:rPr>
              <a:t>Only one `index.html` is downloaded on the first request. Subsequent navigations never reload the page from the server.
</a:t>
            </a:r>
            <a:pPr indent="0" marL="0">
              <a:buNone/>
            </a:pPr>
            <a:r>
              <a:rPr lang="en-US" sz="1100" b="1" dirty="0">
                <a:solidFill>
                  <a:srgbClr val="F8FAFC"/>
                </a:solidFill>
                <a:latin typeface="Arial" pitchFamily="34" charset="0"/>
                <a:ea typeface="Arial" pitchFamily="34" charset="-122"/>
                <a:cs typeface="Arial" pitchFamily="34" charset="-120"/>
              </a:rPr>
              <a:t>• Client-Side Routing (react-router-dom):
</a:t>
            </a:r>
            <a:pPr indent="0" marL="0">
              <a:buNone/>
            </a:pPr>
            <a:r>
              <a:rPr lang="en-US" sz="1100" dirty="0">
                <a:solidFill>
                  <a:srgbClr val="94A3B8"/>
                </a:solidFill>
                <a:latin typeface="Arial" pitchFamily="34" charset="0"/>
                <a:ea typeface="Arial" pitchFamily="34" charset="-122"/>
                <a:cs typeface="Arial" pitchFamily="34" charset="-120"/>
              </a:rPr>
              <a:t>The browser's HTML5 History API (`pushState`) intercepts URL changes and renders the corresponding component in memory.
</a:t>
            </a:r>
            <a:pPr indent="0" marL="0">
              <a:buNone/>
            </a:pPr>
            <a:r>
              <a:rPr lang="en-US" sz="1100" b="1" dirty="0">
                <a:solidFill>
                  <a:srgbClr val="F8FAFC"/>
                </a:solidFill>
                <a:latin typeface="Arial" pitchFamily="34" charset="0"/>
                <a:ea typeface="Arial" pitchFamily="34" charset="-122"/>
                <a:cs typeface="Arial" pitchFamily="34" charset="-120"/>
              </a:rPr>
              <a:t>• Dynamic Parameterized Routing:
</a:t>
            </a:r>
            <a:pPr indent="0" marL="0">
              <a:buNone/>
            </a:pPr>
            <a:r>
              <a:rPr lang="en-US" sz="1100" dirty="0">
                <a:solidFill>
                  <a:srgbClr val="94A3B8"/>
                </a:solidFill>
                <a:latin typeface="Arial" pitchFamily="34" charset="0"/>
                <a:ea typeface="Arial" pitchFamily="34" charset="-122"/>
                <a:cs typeface="Arial" pitchFamily="34" charset="-120"/>
              </a:rPr>
              <a:t>Route `/public-profile/:userId` parses the ID via `useParams()` and executes an asynchronous fetch to load the target profile.
</a:t>
            </a:r>
            <a:pPr indent="0" marL="0">
              <a:buNone/>
            </a:pPr>
            <a:r>
              <a:rPr lang="en-US" sz="1100" b="1" dirty="0">
                <a:solidFill>
                  <a:srgbClr val="F8FAFC"/>
                </a:solidFill>
                <a:latin typeface="Arial" pitchFamily="34" charset="0"/>
                <a:ea typeface="Arial" pitchFamily="34" charset="-122"/>
                <a:cs typeface="Arial" pitchFamily="34" charset="-120"/>
              </a:rPr>
              <a:t>• Virtual DOM Reconciliation:
</a:t>
            </a:r>
            <a:pPr indent="0" marL="0">
              <a:buNone/>
            </a:pPr>
            <a:r>
              <a:rPr lang="en-US" sz="1100" dirty="0">
                <a:solidFill>
                  <a:srgbClr val="94A3B8"/>
                </a:solidFill>
                <a:latin typeface="Arial" pitchFamily="34" charset="0"/>
                <a:ea typeface="Arial" pitchFamily="34" charset="-122"/>
                <a:cs typeface="Arial" pitchFamily="34" charset="-120"/>
              </a:rPr>
              <a:t>React compares Virtual DOM nodes and repaints only the modified elements (e.g., privacy switch), resulting in 60 FPS fluidity.</a:t>
            </a:r>
            <a:endParaRPr lang="en-US" sz="1100" dirty="0"/>
          </a:p>
        </p:txBody>
      </p:sp>
      <p:sp>
        <p:nvSpPr>
          <p:cNvPr id="9" name="Shape 7"/>
          <p:cNvSpPr/>
          <p:nvPr/>
        </p:nvSpPr>
        <p:spPr>
          <a:xfrm>
            <a:off x="6217920" y="1371600"/>
            <a:ext cx="5212080" cy="4663440"/>
          </a:xfrm>
          <a:prstGeom prst="rect">
            <a:avLst/>
          </a:prstGeom>
          <a:solidFill>
            <a:srgbClr val="1E293B"/>
          </a:solidFill>
          <a:ln w="12700">
            <a:solidFill>
              <a:srgbClr val="EC4899"/>
            </a:solidFill>
            <a:prstDash val="solid"/>
          </a:ln>
        </p:spPr>
      </p:sp>
      <p:sp>
        <p:nvSpPr>
          <p:cNvPr id="10" name="Text 8"/>
          <p:cNvSpPr/>
          <p:nvPr/>
        </p:nvSpPr>
        <p:spPr>
          <a:xfrm>
            <a:off x="6492240" y="1645920"/>
            <a:ext cx="4663440" cy="365760"/>
          </a:xfrm>
          <a:prstGeom prst="rect">
            <a:avLst/>
          </a:prstGeom>
          <a:noFill/>
          <a:ln/>
        </p:spPr>
        <p:txBody>
          <a:bodyPr wrap="square" rtlCol="0" anchor="ctr"/>
          <a:lstStyle/>
          <a:p>
            <a:pPr indent="0" marL="0">
              <a:buNone/>
            </a:pPr>
            <a:r>
              <a:rPr lang="en-US" sz="1500" b="1" dirty="0">
                <a:solidFill>
                  <a:srgbClr val="EC4899"/>
                </a:solidFill>
                <a:latin typeface="Arial" pitchFamily="34" charset="0"/>
                <a:ea typeface="Arial" pitchFamily="34" charset="-122"/>
                <a:cs typeface="Arial" pitchFamily="34" charset="-120"/>
              </a:rPr>
              <a:t>⚙️ Frontend State &amp; Lifecycle Flow</a:t>
            </a:r>
            <a:endParaRPr lang="en-US" sz="1500" dirty="0"/>
          </a:p>
        </p:txBody>
      </p:sp>
      <p:sp>
        <p:nvSpPr>
          <p:cNvPr id="11" name="Text 9"/>
          <p:cNvSpPr/>
          <p:nvPr/>
        </p:nvSpPr>
        <p:spPr>
          <a:xfrm>
            <a:off x="6492240" y="2103120"/>
            <a:ext cx="4663440" cy="3749040"/>
          </a:xfrm>
          <a:prstGeom prst="rect">
            <a:avLst/>
          </a:prstGeom>
          <a:noFill/>
          <a:ln/>
        </p:spPr>
        <p:txBody>
          <a:bodyPr wrap="square" rtlCol="0" anchor="ctr"/>
          <a:lstStyle/>
          <a:p>
            <a:pPr indent="0" marL="0">
              <a:buNone/>
            </a:pPr>
            <a:r>
              <a:rPr lang="en-US" sz="1100" b="1" dirty="0">
                <a:solidFill>
                  <a:srgbClr val="F8FAFC"/>
                </a:solidFill>
                <a:latin typeface="Arial" pitchFamily="34" charset="0"/>
                <a:ea typeface="Arial" pitchFamily="34" charset="-122"/>
                <a:cs typeface="Arial" pitchFamily="34" charset="-120"/>
              </a:rPr>
              <a:t>1. Component Mount (`useEffect`):
</a:t>
            </a:r>
            <a:pPr indent="0" marL="0">
              <a:buNone/>
            </a:pPr>
            <a:r>
              <a:rPr lang="en-US" sz="1100" dirty="0">
                <a:solidFill>
                  <a:srgbClr val="94A3B8"/>
                </a:solidFill>
                <a:latin typeface="Arial" pitchFamily="34" charset="0"/>
                <a:ea typeface="Arial" pitchFamily="34" charset="-122"/>
                <a:cs typeface="Arial" pitchFamily="34" charset="-120"/>
              </a:rPr>
              <a:t>Component triggers `getCurrentUserProfile()` on load to populate local component state.
</a:t>
            </a:r>
            <a:pPr indent="0" marL="0">
              <a:buNone/>
            </a:pPr>
            <a:r>
              <a:rPr lang="en-US" sz="1100" b="1" dirty="0">
                <a:solidFill>
                  <a:srgbClr val="F8FAFC"/>
                </a:solidFill>
                <a:latin typeface="Arial" pitchFamily="34" charset="0"/>
                <a:ea typeface="Arial" pitchFamily="34" charset="-122"/>
                <a:cs typeface="Arial" pitchFamily="34" charset="-120"/>
              </a:rPr>
              <a:t>2. Optimistic UI Updates:
</a:t>
            </a:r>
            <a:pPr indent="0" marL="0">
              <a:buNone/>
            </a:pPr>
            <a:r>
              <a:rPr lang="en-US" sz="1100" dirty="0">
                <a:solidFill>
                  <a:srgbClr val="94A3B8"/>
                </a:solidFill>
                <a:latin typeface="Arial" pitchFamily="34" charset="0"/>
                <a:ea typeface="Arial" pitchFamily="34" charset="-122"/>
                <a:cs typeface="Arial" pitchFamily="34" charset="-120"/>
              </a:rPr>
              <a:t>When user clicks 'Private Account', the toggle immediately animates to 'Private' before waiting for the network response, providing zero-lag feedback.
</a:t>
            </a:r>
            <a:pPr indent="0" marL="0">
              <a:buNone/>
            </a:pPr>
            <a:r>
              <a:rPr lang="en-US" sz="1100" b="1" dirty="0">
                <a:solidFill>
                  <a:srgbClr val="F8FAFC"/>
                </a:solidFill>
                <a:latin typeface="Arial" pitchFamily="34" charset="0"/>
                <a:ea typeface="Arial" pitchFamily="34" charset="-122"/>
                <a:cs typeface="Arial" pitchFamily="34" charset="-120"/>
              </a:rPr>
              <a:t>3. Error Rollback:
</a:t>
            </a:r>
            <a:pPr indent="0" marL="0">
              <a:buNone/>
            </a:pPr>
            <a:r>
              <a:rPr lang="en-US" sz="1100" dirty="0">
                <a:solidFill>
                  <a:srgbClr val="94A3B8"/>
                </a:solidFill>
                <a:latin typeface="Arial" pitchFamily="34" charset="0"/>
                <a:ea typeface="Arial" pitchFamily="34" charset="-122"/>
                <a:cs typeface="Arial" pitchFamily="34" charset="-120"/>
              </a:rPr>
              <a:t>If the backend returns an HTTP 500 or 401 error, state catches the exception and gracefully rolls back the toggle to its previous state.
</a:t>
            </a:r>
            <a:pPr indent="0" marL="0">
              <a:buNone/>
            </a:pPr>
            <a:r>
              <a:rPr lang="en-US" sz="1100" b="1" dirty="0">
                <a:solidFill>
                  <a:srgbClr val="F8FAFC"/>
                </a:solidFill>
                <a:latin typeface="Arial" pitchFamily="34" charset="0"/>
                <a:ea typeface="Arial" pitchFamily="34" charset="-122"/>
                <a:cs typeface="Arial" pitchFamily="34" charset="-120"/>
              </a:rPr>
              <a:t>4. Token State Synchronization:
</a:t>
            </a:r>
            <a:pPr indent="0" marL="0">
              <a:buNone/>
            </a:pPr>
            <a:r>
              <a:rPr lang="en-US" sz="1100" dirty="0">
                <a:solidFill>
                  <a:srgbClr val="94A3B8"/>
                </a:solidFill>
                <a:latin typeface="Arial" pitchFamily="34" charset="0"/>
                <a:ea typeface="Arial" pitchFamily="34" charset="-122"/>
                <a:cs typeface="Arial" pitchFamily="34" charset="-120"/>
              </a:rPr>
              <a:t>Stored user credentials in `localStorage` update simultaneously, maintaining auth continuity across tabs.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293B"/>
          </a:solidFill>
          <a:ln w="25400">
            <a:solidFill>
              <a:srgbClr val="7C3AED"/>
            </a:solidFill>
            <a:prstDash val="solid"/>
          </a:ln>
        </p:spPr>
      </p:sp>
      <p:sp>
        <p:nvSpPr>
          <p:cNvPr id="3" name="Text 1"/>
          <p:cNvSpPr/>
          <p:nvPr/>
        </p:nvSpPr>
        <p:spPr>
          <a:xfrm>
            <a:off x="731520" y="137160"/>
            <a:ext cx="8686800" cy="50292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4. Backend Deep Dive: Spring Boot 3 Request Lifecycle</a:t>
            </a:r>
            <a:endParaRPr lang="en-US" sz="2200" dirty="0"/>
          </a:p>
        </p:txBody>
      </p:sp>
      <p:sp>
        <p:nvSpPr>
          <p:cNvPr id="4" name="Text 2"/>
          <p:cNvSpPr/>
          <p:nvPr/>
        </p:nvSpPr>
        <p:spPr>
          <a:xfrm>
            <a:off x="731520" y="594360"/>
            <a:ext cx="86868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What happens behind the scenes when an API call hits the server?</a:t>
            </a:r>
            <a:endParaRPr lang="en-US" sz="1200" dirty="0"/>
          </a:p>
        </p:txBody>
      </p:sp>
      <p:sp>
        <p:nvSpPr>
          <p:cNvPr id="5" name="Text 3"/>
          <p:cNvSpPr/>
          <p:nvPr/>
        </p:nvSpPr>
        <p:spPr>
          <a:xfrm>
            <a:off x="8686800" y="365760"/>
            <a:ext cx="292608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BookMyStars Enterprise Architecture</a:t>
            </a:r>
            <a:endParaRPr lang="en-US" sz="1000" dirty="0"/>
          </a:p>
        </p:txBody>
      </p:sp>
      <p:sp>
        <p:nvSpPr>
          <p:cNvPr id="6" name="Shape 4"/>
          <p:cNvSpPr/>
          <p:nvPr/>
        </p:nvSpPr>
        <p:spPr>
          <a:xfrm>
            <a:off x="731520" y="1371600"/>
            <a:ext cx="10698480" cy="4663440"/>
          </a:xfrm>
          <a:prstGeom prst="rect">
            <a:avLst/>
          </a:prstGeom>
          <a:solidFill>
            <a:srgbClr val="1E293B"/>
          </a:solidFill>
          <a:ln w="12700">
            <a:solidFill>
              <a:srgbClr val="7C3AED"/>
            </a:solidFill>
            <a:prstDash val="solid"/>
          </a:ln>
        </p:spPr>
      </p:sp>
      <p:sp>
        <p:nvSpPr>
          <p:cNvPr id="7" name="Text 5"/>
          <p:cNvSpPr/>
          <p:nvPr/>
        </p:nvSpPr>
        <p:spPr>
          <a:xfrm>
            <a:off x="1097280" y="1554480"/>
            <a:ext cx="9966960" cy="4297680"/>
          </a:xfrm>
          <a:prstGeom prst="rect">
            <a:avLst/>
          </a:prstGeom>
          <a:noFill/>
          <a:ln/>
        </p:spPr>
        <p:txBody>
          <a:bodyPr wrap="square" rtlCol="0" anchor="ctr"/>
          <a:lstStyle/>
          <a:p>
            <a:pPr indent="0" marL="0">
              <a:buNone/>
            </a:pPr>
            <a:r>
              <a:rPr lang="en-US" sz="1250" b="1" dirty="0">
                <a:solidFill>
                  <a:srgbClr val="38BDF8"/>
                </a:solidFill>
                <a:latin typeface="Arial" pitchFamily="34" charset="0"/>
                <a:ea typeface="Arial" pitchFamily="34" charset="-122"/>
                <a:cs typeface="Arial" pitchFamily="34" charset="-120"/>
              </a:rPr>
              <a:t>STEP 1: SERVLET CONTAINER &amp; SECURITY FILTER CHAIN (`SecurityConfig.java`)
</a:t>
            </a:r>
            <a:pPr indent="0" marL="0">
              <a:buNone/>
            </a:pPr>
            <a:r>
              <a:rPr lang="en-US" sz="1100" dirty="0">
                <a:solidFill>
                  <a:srgbClr val="94A3B8"/>
                </a:solidFill>
                <a:latin typeface="Arial" pitchFamily="34" charset="0"/>
                <a:ea typeface="Arial" pitchFamily="34" charset="-122"/>
                <a:cs typeface="Arial" pitchFamily="34" charset="-120"/>
              </a:rPr>
              <a:t>• The incoming HTTP request arrives at Tomcat embedded servlet container.
• `JwtAuthenticationFilter` executes: extracts `Bearer &lt;token&gt;`, verifies signature with HMAC-SHA256, and extracts user email and role.
• Public endpoints (e.g. `/api/auth/**`, `/api/profile/public/**`) bypass token requirements; secured endpoints reject with 401 Unauthorized.
</a:t>
            </a:r>
            <a:pPr indent="0" marL="0">
              <a:buNone/>
            </a:pPr>
            <a:r>
              <a:rPr lang="en-US" sz="1250" b="1" dirty="0">
                <a:solidFill>
                  <a:srgbClr val="EC4899"/>
                </a:solidFill>
                <a:latin typeface="Arial" pitchFamily="34" charset="0"/>
                <a:ea typeface="Arial" pitchFamily="34" charset="-122"/>
                <a:cs typeface="Arial" pitchFamily="34" charset="-120"/>
              </a:rPr>
              <a:t>STEP 2: CONTROLLER LAYER (`ProfileController.java`, `VideoController.java`)
</a:t>
            </a:r>
            <a:pPr indent="0" marL="0">
              <a:buNone/>
            </a:pPr>
            <a:r>
              <a:rPr lang="en-US" sz="1100" dirty="0">
                <a:solidFill>
                  <a:srgbClr val="94A3B8"/>
                </a:solidFill>
                <a:latin typeface="Arial" pitchFamily="34" charset="0"/>
                <a:ea typeface="Arial" pitchFamily="34" charset="-122"/>
                <a:cs typeface="Arial" pitchFamily="34" charset="-120"/>
              </a:rPr>
              <a:t>• Spring MVC routes the request based on `@GetMapping`, `@PostMapping`, `@PatchMapping`.
• Binds incoming JSON/Multipart data into strongly typed Java DTOs using `@RequestBody` and `@RequestParam`.
• Extracts authenticated user context via `Authentication auth` parameter.
</a:t>
            </a:r>
            <a:pPr indent="0" marL="0">
              <a:buNone/>
            </a:pPr>
            <a:r>
              <a:rPr lang="en-US" sz="1250" b="1" dirty="0">
                <a:solidFill>
                  <a:srgbClr val="10B981"/>
                </a:solidFill>
                <a:latin typeface="Arial" pitchFamily="34" charset="0"/>
                <a:ea typeface="Arial" pitchFamily="34" charset="-122"/>
                <a:cs typeface="Arial" pitchFamily="34" charset="-120"/>
              </a:rPr>
              <a:t>STEP 3: SERVICE LAYER &amp; BUSINESS LOGIC (`ProfileService.java`)
</a:t>
            </a:r>
            <a:pPr indent="0" marL="0">
              <a:buNone/>
            </a:pPr>
            <a:r>
              <a:rPr lang="en-US" sz="1100" dirty="0">
                <a:solidFill>
                  <a:srgbClr val="94A3B8"/>
                </a:solidFill>
                <a:latin typeface="Arial" pitchFamily="34" charset="0"/>
                <a:ea typeface="Arial" pitchFamily="34" charset="-122"/>
                <a:cs typeface="Arial" pitchFamily="34" charset="-120"/>
              </a:rPr>
              <a:t>• Contains business validations, role verification, and access rule evaluations.
• Strips private data if an unapproved viewer attempts to fetch a locked private profile.
• Executes `@Transactional` operations ensuring ACID compliance across database writes.
</a:t>
            </a:r>
            <a:pPr indent="0" marL="0">
              <a:buNone/>
            </a:pPr>
            <a:r>
              <a:rPr lang="en-US" sz="1250" b="1" dirty="0">
                <a:solidFill>
                  <a:srgbClr val="F8FAFC"/>
                </a:solidFill>
                <a:latin typeface="Arial" pitchFamily="34" charset="0"/>
                <a:ea typeface="Arial" pitchFamily="34" charset="-122"/>
                <a:cs typeface="Arial" pitchFamily="34" charset="-120"/>
              </a:rPr>
              <a:t>STEP 4: REPOSITORY LAYER &amp; POSTGRESQL PERSISTENCE (`Spring Data JPA`)
</a:t>
            </a:r>
            <a:pPr indent="0" marL="0">
              <a:buNone/>
            </a:pPr>
            <a:r>
              <a:rPr lang="en-US" sz="1100" dirty="0">
                <a:solidFill>
                  <a:srgbClr val="94A3B8"/>
                </a:solidFill>
                <a:latin typeface="Arial" pitchFamily="34" charset="0"/>
                <a:ea typeface="Arial" pitchFamily="34" charset="-122"/>
                <a:cs typeface="Arial" pitchFamily="34" charset="-120"/>
              </a:rPr>
              <a:t>• Hibernate translates Java repository calls into optimized PostgreSQL SQL queries.</a:t>
            </a:r>
            <a:endParaRPr lang="en-US" sz="1250" dirty="0"/>
          </a:p>
          <a:p>
            <a:pPr indent="0" marL="0">
              <a:buNone/>
            </a:pPr>
            <a:r>
              <a:rPr lang="en-US" sz="1100" dirty="0">
                <a:solidFill>
                  <a:srgbClr val="94A3B8"/>
                </a:solidFill>
                <a:latin typeface="Arial" pitchFamily="34" charset="0"/>
                <a:ea typeface="Arial" pitchFamily="34" charset="-122"/>
                <a:cs typeface="Arial" pitchFamily="34" charset="-120"/>
              </a:rPr>
              <a:t>• Executes atomic UPSERTs, saves entities, and converts records into safe response DTOs to return JSON to the client.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293B"/>
          </a:solidFill>
          <a:ln w="25400">
            <a:solidFill>
              <a:srgbClr val="7C3AED"/>
            </a:solidFill>
            <a:prstDash val="solid"/>
          </a:ln>
        </p:spPr>
      </p:sp>
      <p:sp>
        <p:nvSpPr>
          <p:cNvPr id="3" name="Text 1"/>
          <p:cNvSpPr/>
          <p:nvPr/>
        </p:nvSpPr>
        <p:spPr>
          <a:xfrm>
            <a:off x="731520" y="137160"/>
            <a:ext cx="8686800" cy="50292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5. Highlight Feature: Instagram-Style Public vs. Private Profiles</a:t>
            </a:r>
            <a:endParaRPr lang="en-US" sz="2200" dirty="0"/>
          </a:p>
        </p:txBody>
      </p:sp>
      <p:sp>
        <p:nvSpPr>
          <p:cNvPr id="4" name="Text 2"/>
          <p:cNvSpPr/>
          <p:nvPr/>
        </p:nvSpPr>
        <p:spPr>
          <a:xfrm>
            <a:off x="731520" y="594360"/>
            <a:ext cx="86868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Complete privacy toggle, access request state machine, and data protection</a:t>
            </a:r>
            <a:endParaRPr lang="en-US" sz="1200" dirty="0"/>
          </a:p>
        </p:txBody>
      </p:sp>
      <p:sp>
        <p:nvSpPr>
          <p:cNvPr id="5" name="Text 3"/>
          <p:cNvSpPr/>
          <p:nvPr/>
        </p:nvSpPr>
        <p:spPr>
          <a:xfrm>
            <a:off x="8686800" y="365760"/>
            <a:ext cx="292608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BookMyStars Enterprise Architecture</a:t>
            </a:r>
            <a:endParaRPr lang="en-US" sz="1000" dirty="0"/>
          </a:p>
        </p:txBody>
      </p:sp>
      <p:sp>
        <p:nvSpPr>
          <p:cNvPr id="6" name="Shape 4"/>
          <p:cNvSpPr/>
          <p:nvPr/>
        </p:nvSpPr>
        <p:spPr>
          <a:xfrm>
            <a:off x="731520" y="1371600"/>
            <a:ext cx="5120640" cy="4663440"/>
          </a:xfrm>
          <a:prstGeom prst="rect">
            <a:avLst/>
          </a:prstGeom>
          <a:solidFill>
            <a:srgbClr val="1E293B"/>
          </a:solidFill>
          <a:ln w="12700">
            <a:solidFill>
              <a:srgbClr val="7C3AED"/>
            </a:solidFill>
            <a:prstDash val="solid"/>
          </a:ln>
        </p:spPr>
      </p:sp>
      <p:sp>
        <p:nvSpPr>
          <p:cNvPr id="7" name="Text 5"/>
          <p:cNvSpPr/>
          <p:nvPr/>
        </p:nvSpPr>
        <p:spPr>
          <a:xfrm>
            <a:off x="1005840" y="1645920"/>
            <a:ext cx="4572000" cy="365760"/>
          </a:xfrm>
          <a:prstGeom prst="rect">
            <a:avLst/>
          </a:prstGeom>
          <a:noFill/>
          <a:ln/>
        </p:spPr>
        <p:txBody>
          <a:bodyPr wrap="square" rtlCol="0" anchor="ctr"/>
          <a:lstStyle/>
          <a:p>
            <a:pPr indent="0" marL="0">
              <a:buNone/>
            </a:pPr>
            <a:r>
              <a:rPr lang="en-US" sz="1500" b="1" dirty="0">
                <a:solidFill>
                  <a:srgbClr val="7C3AED"/>
                </a:solidFill>
                <a:latin typeface="Arial" pitchFamily="34" charset="0"/>
                <a:ea typeface="Arial" pitchFamily="34" charset="-122"/>
                <a:cs typeface="Arial" pitchFamily="34" charset="-120"/>
              </a:rPr>
              <a:t>🔒 Privacy Architecture &amp; Toggle</a:t>
            </a:r>
            <a:endParaRPr lang="en-US" sz="1500" dirty="0"/>
          </a:p>
        </p:txBody>
      </p:sp>
      <p:sp>
        <p:nvSpPr>
          <p:cNvPr id="8" name="Text 6"/>
          <p:cNvSpPr/>
          <p:nvPr/>
        </p:nvSpPr>
        <p:spPr>
          <a:xfrm>
            <a:off x="1005840" y="2103120"/>
            <a:ext cx="4572000" cy="374904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Interactive Switch Next to Photo:
</a:t>
            </a:r>
            <a:pPr indent="0" marL="0">
              <a:buNone/>
            </a:pPr>
            <a:r>
              <a:rPr lang="en-US" sz="1150" dirty="0">
                <a:solidFill>
                  <a:srgbClr val="94A3B8"/>
                </a:solidFill>
                <a:latin typeface="Arial" pitchFamily="34" charset="0"/>
                <a:ea typeface="Arial" pitchFamily="34" charset="-122"/>
                <a:cs typeface="Arial" pitchFamily="34" charset="-120"/>
              </a:rPr>
              <a:t>Talent can toggle between Public and Private directly from their Dashboard and Profile headers.
</a:t>
            </a:r>
            <a:pPr indent="0" marL="0">
              <a:buNone/>
            </a:pPr>
            <a:r>
              <a:rPr lang="en-US" sz="1150" b="1" dirty="0">
                <a:solidFill>
                  <a:srgbClr val="F8FAFC"/>
                </a:solidFill>
                <a:latin typeface="Arial" pitchFamily="34" charset="0"/>
                <a:ea typeface="Arial" pitchFamily="34" charset="-122"/>
                <a:cs typeface="Arial" pitchFamily="34" charset="-120"/>
              </a:rPr>
              <a:t>• True Backend Security (Data Stripping):
</a:t>
            </a:r>
            <a:pPr indent="0" marL="0">
              <a:buNone/>
            </a:pPr>
            <a:r>
              <a:rPr lang="en-US" sz="1150" dirty="0">
                <a:solidFill>
                  <a:srgbClr val="94A3B8"/>
                </a:solidFill>
                <a:latin typeface="Arial" pitchFamily="34" charset="0"/>
                <a:ea typeface="Arial" pitchFamily="34" charset="-122"/>
                <a:cs typeface="Arial" pitchFamily="34" charset="-120"/>
              </a:rPr>
              <a:t>Unlike insecure portals that hide data with CSS `display:none`, our backend empties portfolio photos, video showreels, and measurements directly from the API response payload.
</a:t>
            </a:r>
            <a:pPr indent="0" marL="0">
              <a:buNone/>
            </a:pPr>
            <a:r>
              <a:rPr lang="en-US" sz="1150" b="1" dirty="0">
                <a:solidFill>
                  <a:srgbClr val="F8FAFC"/>
                </a:solidFill>
                <a:latin typeface="Arial" pitchFamily="34" charset="0"/>
                <a:ea typeface="Arial" pitchFamily="34" charset="-122"/>
                <a:cs typeface="Arial" pitchFamily="34" charset="-120"/>
              </a:rPr>
              <a:t>• The Locked Card Experience:
</a:t>
            </a:r>
            <a:pPr indent="0" marL="0">
              <a:buNone/>
            </a:pPr>
            <a:r>
              <a:rPr lang="en-US" sz="1150" dirty="0">
                <a:solidFill>
                  <a:srgbClr val="94A3B8"/>
                </a:solidFill>
                <a:latin typeface="Arial" pitchFamily="34" charset="0"/>
                <a:ea typeface="Arial" pitchFamily="34" charset="-122"/>
                <a:cs typeface="Arial" pitchFamily="34" charset="-120"/>
              </a:rPr>
              <a:t>Unapproved viewers only see the talent's name, verified badge, and role tags alongside an Instagram-style locked card: 'This Account is Private'.</a:t>
            </a:r>
            <a:endParaRPr lang="en-US" sz="1150" dirty="0"/>
          </a:p>
        </p:txBody>
      </p:sp>
      <p:sp>
        <p:nvSpPr>
          <p:cNvPr id="9" name="Shape 7"/>
          <p:cNvSpPr/>
          <p:nvPr/>
        </p:nvSpPr>
        <p:spPr>
          <a:xfrm>
            <a:off x="6217920" y="1371600"/>
            <a:ext cx="5212080" cy="4663440"/>
          </a:xfrm>
          <a:prstGeom prst="rect">
            <a:avLst/>
          </a:prstGeom>
          <a:solidFill>
            <a:srgbClr val="1E293B"/>
          </a:solidFill>
          <a:ln w="12700">
            <a:solidFill>
              <a:srgbClr val="EC4899"/>
            </a:solidFill>
            <a:prstDash val="solid"/>
          </a:ln>
        </p:spPr>
      </p:sp>
      <p:sp>
        <p:nvSpPr>
          <p:cNvPr id="10" name="Text 8"/>
          <p:cNvSpPr/>
          <p:nvPr/>
        </p:nvSpPr>
        <p:spPr>
          <a:xfrm>
            <a:off x="6492240" y="1645920"/>
            <a:ext cx="4663440" cy="365760"/>
          </a:xfrm>
          <a:prstGeom prst="rect">
            <a:avLst/>
          </a:prstGeom>
          <a:noFill/>
          <a:ln/>
        </p:spPr>
        <p:txBody>
          <a:bodyPr wrap="square" rtlCol="0" anchor="ctr"/>
          <a:lstStyle/>
          <a:p>
            <a:pPr indent="0" marL="0">
              <a:buNone/>
            </a:pPr>
            <a:r>
              <a:rPr lang="en-US" sz="1500" b="1" dirty="0">
                <a:solidFill>
                  <a:srgbClr val="EC4899"/>
                </a:solidFill>
                <a:latin typeface="Arial" pitchFamily="34" charset="0"/>
                <a:ea typeface="Arial" pitchFamily="34" charset="-122"/>
                <a:cs typeface="Arial" pitchFamily="34" charset="-120"/>
              </a:rPr>
              <a:t>🔄 Access Request State Machine</a:t>
            </a:r>
            <a:endParaRPr lang="en-US" sz="1500" dirty="0"/>
          </a:p>
        </p:txBody>
      </p:sp>
      <p:sp>
        <p:nvSpPr>
          <p:cNvPr id="11" name="Text 9"/>
          <p:cNvSpPr/>
          <p:nvPr/>
        </p:nvSpPr>
        <p:spPr>
          <a:xfrm>
            <a:off x="6492240" y="2103120"/>
            <a:ext cx="4663440" cy="374904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1. Request Submission:
</a:t>
            </a:r>
            <a:pPr indent="0" marL="0">
              <a:buNone/>
            </a:pPr>
            <a:r>
              <a:rPr lang="en-US" sz="1150" dirty="0">
                <a:solidFill>
                  <a:srgbClr val="94A3B8"/>
                </a:solidFill>
                <a:latin typeface="Arial" pitchFamily="34" charset="0"/>
                <a:ea typeface="Arial" pitchFamily="34" charset="-122"/>
                <a:cs typeface="Arial" pitchFamily="34" charset="-120"/>
              </a:rPr>
              <a:t>Viewer clicks 'Request to View Profile', fills in Name, Email, Role (e.g. Casting Director), and optional note.
</a:t>
            </a:r>
            <a:pPr indent="0" marL="0">
              <a:buNone/>
            </a:pPr>
            <a:r>
              <a:rPr lang="en-US" sz="1150" b="1" dirty="0">
                <a:solidFill>
                  <a:srgbClr val="F8FAFC"/>
                </a:solidFill>
                <a:latin typeface="Arial" pitchFamily="34" charset="0"/>
                <a:ea typeface="Arial" pitchFamily="34" charset="-122"/>
                <a:cs typeface="Arial" pitchFamily="34" charset="-120"/>
              </a:rPr>
              <a:t>2. State: PENDING:
</a:t>
            </a:r>
            <a:pPr indent="0" marL="0">
              <a:buNone/>
            </a:pPr>
            <a:r>
              <a:rPr lang="en-US" sz="1150" dirty="0">
                <a:solidFill>
                  <a:srgbClr val="94A3B8"/>
                </a:solidFill>
                <a:latin typeface="Arial" pitchFamily="34" charset="0"/>
                <a:ea typeface="Arial" pitchFamily="34" charset="-122"/>
                <a:cs typeface="Arial" pitchFamily="34" charset="-120"/>
              </a:rPr>
              <a:t>Viewer sees '⏳ Request Sent · Pending Talent Approval'. Talent Dashboard shows purple notification banner with counter badge.
</a:t>
            </a:r>
            <a:pPr indent="0" marL="0">
              <a:buNone/>
            </a:pPr>
            <a:r>
              <a:rPr lang="en-US" sz="1150" b="1" dirty="0">
                <a:solidFill>
                  <a:srgbClr val="F8FAFC"/>
                </a:solidFill>
                <a:latin typeface="Arial" pitchFamily="34" charset="0"/>
                <a:ea typeface="Arial" pitchFamily="34" charset="-122"/>
                <a:cs typeface="Arial" pitchFamily="34" charset="-120"/>
              </a:rPr>
              <a:t>3. Talent Decision (Interactive Modal):
</a:t>
            </a:r>
            <a:pPr indent="0" marL="0">
              <a:buNone/>
            </a:pPr>
            <a:r>
              <a:rPr lang="en-US" sz="1150" dirty="0">
                <a:solidFill>
                  <a:srgbClr val="94A3B8"/>
                </a:solidFill>
                <a:latin typeface="Arial" pitchFamily="34" charset="0"/>
                <a:ea typeface="Arial" pitchFamily="34" charset="-122"/>
                <a:cs typeface="Arial" pitchFamily="34" charset="-120"/>
              </a:rPr>
              <a:t>Talent inspects requester details in 'Profile View Requests' modal and clicks 'Approve Access' or 'Decline'.
</a:t>
            </a:r>
            <a:pPr indent="0" marL="0">
              <a:buNone/>
            </a:pPr>
            <a:r>
              <a:rPr lang="en-US" sz="1150" b="1" dirty="0">
                <a:solidFill>
                  <a:srgbClr val="F8FAFC"/>
                </a:solidFill>
                <a:latin typeface="Arial" pitchFamily="34" charset="0"/>
                <a:ea typeface="Arial" pitchFamily="34" charset="-122"/>
                <a:cs typeface="Arial" pitchFamily="34" charset="-120"/>
              </a:rPr>
              <a:t>4. State: APPROVED / REJECTED:
</a:t>
            </a:r>
            <a:pPr indent="0" marL="0">
              <a:buNone/>
            </a:pPr>
            <a:r>
              <a:rPr lang="en-US" sz="1150" dirty="0">
                <a:solidFill>
                  <a:srgbClr val="94A3B8"/>
                </a:solidFill>
                <a:latin typeface="Arial" pitchFamily="34" charset="0"/>
                <a:ea typeface="Arial" pitchFamily="34" charset="-122"/>
                <a:cs typeface="Arial" pitchFamily="34" charset="-120"/>
              </a:rPr>
              <a:t>Upon approval, the shared link unlocks instantly for that viewer, revealing full media and physical specs.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293B"/>
          </a:solidFill>
          <a:ln w="25400">
            <a:solidFill>
              <a:srgbClr val="7C3AED"/>
            </a:solidFill>
            <a:prstDash val="solid"/>
          </a:ln>
        </p:spPr>
      </p:sp>
      <p:sp>
        <p:nvSpPr>
          <p:cNvPr id="3" name="Text 1"/>
          <p:cNvSpPr/>
          <p:nvPr/>
        </p:nvSpPr>
        <p:spPr>
          <a:xfrm>
            <a:off x="731520" y="137160"/>
            <a:ext cx="8686800" cy="50292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6. Talent Dashboard &amp; Dynamic Demographics</a:t>
            </a:r>
            <a:endParaRPr lang="en-US" sz="2200" dirty="0"/>
          </a:p>
        </p:txBody>
      </p:sp>
      <p:sp>
        <p:nvSpPr>
          <p:cNvPr id="4" name="Text 2"/>
          <p:cNvSpPr/>
          <p:nvPr/>
        </p:nvSpPr>
        <p:spPr>
          <a:xfrm>
            <a:off x="731520" y="594360"/>
            <a:ext cx="86868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Consolidated talent profile, SVG body silhouette, and dynamic statistics</a:t>
            </a:r>
            <a:endParaRPr lang="en-US" sz="1200" dirty="0"/>
          </a:p>
        </p:txBody>
      </p:sp>
      <p:sp>
        <p:nvSpPr>
          <p:cNvPr id="5" name="Text 3"/>
          <p:cNvSpPr/>
          <p:nvPr/>
        </p:nvSpPr>
        <p:spPr>
          <a:xfrm>
            <a:off x="8686800" y="365760"/>
            <a:ext cx="292608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BookMyStars Enterprise Architecture</a:t>
            </a:r>
            <a:endParaRPr lang="en-US" sz="1000" dirty="0"/>
          </a:p>
        </p:txBody>
      </p:sp>
      <p:sp>
        <p:nvSpPr>
          <p:cNvPr id="6" name="Shape 4"/>
          <p:cNvSpPr/>
          <p:nvPr/>
        </p:nvSpPr>
        <p:spPr>
          <a:xfrm>
            <a:off x="731520" y="1371600"/>
            <a:ext cx="5669280" cy="4663440"/>
          </a:xfrm>
          <a:prstGeom prst="rect">
            <a:avLst/>
          </a:prstGeom>
          <a:solidFill>
            <a:srgbClr val="1E293B"/>
          </a:solidFill>
          <a:ln w="12700">
            <a:solidFill>
              <a:srgbClr val="334155"/>
            </a:solidFill>
            <a:prstDash val="solid"/>
          </a:ln>
        </p:spPr>
      </p:sp>
      <p:sp>
        <p:nvSpPr>
          <p:cNvPr id="7" name="Text 5"/>
          <p:cNvSpPr/>
          <p:nvPr/>
        </p:nvSpPr>
        <p:spPr>
          <a:xfrm>
            <a:off x="1005840" y="1645920"/>
            <a:ext cx="5120640" cy="411480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Dynamic Header &amp; Verified Badge:
</a:t>
            </a:r>
            <a:pPr indent="0" marL="0">
              <a:buNone/>
            </a:pPr>
            <a:r>
              <a:rPr lang="en-US" sz="1150" dirty="0">
                <a:solidFill>
                  <a:srgbClr val="94A3B8"/>
                </a:solidFill>
                <a:latin typeface="Arial" pitchFamily="34" charset="0"/>
                <a:ea typeface="Arial" pitchFamily="34" charset="-122"/>
                <a:cs typeface="Arial" pitchFamily="34" charset="-120"/>
              </a:rPr>
              <a:t>Displays live full name, verified rosette badge, location, age calculated automatically from date of birth, and language proficiencies.
</a:t>
            </a:r>
            <a:pPr indent="0" marL="0">
              <a:buNone/>
            </a:pPr>
            <a:r>
              <a:rPr lang="en-US" sz="1150" b="1" dirty="0">
                <a:solidFill>
                  <a:srgbClr val="F8FAFC"/>
                </a:solidFill>
                <a:latin typeface="Arial" pitchFamily="34" charset="0"/>
                <a:ea typeface="Arial" pitchFamily="34" charset="-122"/>
                <a:cs typeface="Arial" pitchFamily="34" charset="-120"/>
              </a:rPr>
              <a:t>• Multi-Profile Type Support:
</a:t>
            </a:r>
            <a:pPr indent="0" marL="0">
              <a:buNone/>
            </a:pPr>
            <a:r>
              <a:rPr lang="en-US" sz="1150" dirty="0">
                <a:solidFill>
                  <a:srgbClr val="94A3B8"/>
                </a:solidFill>
                <a:latin typeface="Arial" pitchFamily="34" charset="0"/>
                <a:ea typeface="Arial" pitchFamily="34" charset="-122"/>
                <a:cs typeface="Arial" pitchFamily="34" charset="-120"/>
              </a:rPr>
              <a:t>Supports multiple talent roles selected during onboarding or profile editing (Actor, Model, Singer, Dancer, Director, Producer).
</a:t>
            </a:r>
            <a:pPr indent="0" marL="0">
              <a:buNone/>
            </a:pPr>
            <a:r>
              <a:rPr lang="en-US" sz="1150" b="1" dirty="0">
                <a:solidFill>
                  <a:srgbClr val="F8FAFC"/>
                </a:solidFill>
                <a:latin typeface="Arial" pitchFamily="34" charset="0"/>
                <a:ea typeface="Arial" pitchFamily="34" charset="-122"/>
                <a:cs typeface="Arial" pitchFamily="34" charset="-120"/>
              </a:rPr>
              <a:t>• Casting Measurements with SVG Silhouette:
</a:t>
            </a:r>
            <a:pPr indent="0" marL="0">
              <a:buNone/>
            </a:pPr>
            <a:r>
              <a:rPr lang="en-US" sz="1150" dirty="0">
                <a:solidFill>
                  <a:srgbClr val="94A3B8"/>
                </a:solidFill>
                <a:latin typeface="Arial" pitchFamily="34" charset="0"/>
                <a:ea typeface="Arial" pitchFamily="34" charset="-122"/>
                <a:cs typeface="Arial" pitchFamily="34" charset="-120"/>
              </a:rPr>
              <a:t>Standardized physical casting attributes (Height, Bust, Waist, Hips, Shoe Size, Dress Size, Hair, Eyes) rendered over an anatomical SVG model.
</a:t>
            </a:r>
            <a:pPr indent="0" marL="0">
              <a:buNone/>
            </a:pPr>
            <a:r>
              <a:rPr lang="en-US" sz="1150" b="1" dirty="0">
                <a:solidFill>
                  <a:srgbClr val="F8FAFC"/>
                </a:solidFill>
                <a:latin typeface="Arial" pitchFamily="34" charset="0"/>
                <a:ea typeface="Arial" pitchFamily="34" charset="-122"/>
                <a:cs typeface="Arial" pitchFamily="34" charset="-120"/>
              </a:rPr>
              <a:t>• Interactive Edit Profile Modal:
</a:t>
            </a:r>
            <a:pPr indent="0" marL="0">
              <a:buNone/>
            </a:pPr>
            <a:r>
              <a:rPr lang="en-US" sz="1150" dirty="0">
                <a:solidFill>
                  <a:srgbClr val="94A3B8"/>
                </a:solidFill>
                <a:latin typeface="Arial" pitchFamily="34" charset="0"/>
                <a:ea typeface="Arial" pitchFamily="34" charset="-122"/>
                <a:cs typeface="Arial" pitchFamily="34" charset="-120"/>
              </a:rPr>
              <a:t>Seamless modal dialog allowing talent to modify bio, day rate, location, roles, and profile privacy in a single atomic transaction.</a:t>
            </a:r>
            <a:endParaRPr lang="en-US" sz="1150" dirty="0"/>
          </a:p>
        </p:txBody>
      </p:sp>
      <p:pic>
        <p:nvPicPr>
          <p:cNvPr id="8" name="Image 0" descr="C:\Users\User\.gemini\antigravity\brain\f1517739-a329-4601-ac86-a352aa8c2fbe\.user_uploaded\media_1791196080078.png">    </p:cNvPr>
          <p:cNvPicPr>
            <a:picLocks noChangeAspect="1"/>
          </p:cNvPicPr>
          <p:nvPr/>
        </p:nvPicPr>
        <p:blipFill>
          <a:blip r:embed="rId1"/>
          <a:stretch>
            <a:fillRect/>
          </a:stretch>
        </p:blipFill>
        <p:spPr>
          <a:xfrm>
            <a:off x="6675120" y="1371600"/>
            <a:ext cx="4754880" cy="46634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293B"/>
          </a:solidFill>
          <a:ln w="25400">
            <a:solidFill>
              <a:srgbClr val="7C3AED"/>
            </a:solidFill>
            <a:prstDash val="solid"/>
          </a:ln>
        </p:spPr>
      </p:sp>
      <p:sp>
        <p:nvSpPr>
          <p:cNvPr id="3" name="Text 1"/>
          <p:cNvSpPr/>
          <p:nvPr/>
        </p:nvSpPr>
        <p:spPr>
          <a:xfrm>
            <a:off x="731520" y="137160"/>
            <a:ext cx="8686800" cy="50292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7. 100MB Media Pipeline &amp; Smart Video Processing</a:t>
            </a:r>
            <a:endParaRPr lang="en-US" sz="2200" dirty="0"/>
          </a:p>
        </p:txBody>
      </p:sp>
      <p:sp>
        <p:nvSpPr>
          <p:cNvPr id="4" name="Text 2"/>
          <p:cNvSpPr/>
          <p:nvPr/>
        </p:nvSpPr>
        <p:spPr>
          <a:xfrm>
            <a:off x="731520" y="594360"/>
            <a:ext cx="86868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High-capacity multipart uploads and zero-overhead client-side thumbnailing</a:t>
            </a:r>
            <a:endParaRPr lang="en-US" sz="1200" dirty="0"/>
          </a:p>
        </p:txBody>
      </p:sp>
      <p:sp>
        <p:nvSpPr>
          <p:cNvPr id="5" name="Text 3"/>
          <p:cNvSpPr/>
          <p:nvPr/>
        </p:nvSpPr>
        <p:spPr>
          <a:xfrm>
            <a:off x="8686800" y="365760"/>
            <a:ext cx="292608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BookMyStars Enterprise Architecture</a:t>
            </a:r>
            <a:endParaRPr lang="en-US" sz="1000" dirty="0"/>
          </a:p>
        </p:txBody>
      </p:sp>
      <p:sp>
        <p:nvSpPr>
          <p:cNvPr id="6" name="Shape 4"/>
          <p:cNvSpPr/>
          <p:nvPr/>
        </p:nvSpPr>
        <p:spPr>
          <a:xfrm>
            <a:off x="731520" y="1371600"/>
            <a:ext cx="5120640" cy="4663440"/>
          </a:xfrm>
          <a:prstGeom prst="rect">
            <a:avLst/>
          </a:prstGeom>
          <a:solidFill>
            <a:srgbClr val="1E293B"/>
          </a:solidFill>
          <a:ln w="12700">
            <a:solidFill>
              <a:srgbClr val="10B981"/>
            </a:solidFill>
            <a:prstDash val="solid"/>
          </a:ln>
        </p:spPr>
      </p:sp>
      <p:sp>
        <p:nvSpPr>
          <p:cNvPr id="7" name="Text 5"/>
          <p:cNvSpPr/>
          <p:nvPr/>
        </p:nvSpPr>
        <p:spPr>
          <a:xfrm>
            <a:off x="1005840" y="1645920"/>
            <a:ext cx="4572000" cy="365760"/>
          </a:xfrm>
          <a:prstGeom prst="rect">
            <a:avLst/>
          </a:prstGeom>
          <a:noFill/>
          <a:ln/>
        </p:spPr>
        <p:txBody>
          <a:bodyPr wrap="square" rtlCol="0" anchor="ctr"/>
          <a:lstStyle/>
          <a:p>
            <a:pPr indent="0" marL="0">
              <a:buNone/>
            </a:pPr>
            <a:r>
              <a:rPr lang="en-US" sz="1500" b="1" dirty="0">
                <a:solidFill>
                  <a:srgbClr val="10B981"/>
                </a:solidFill>
                <a:latin typeface="Arial" pitchFamily="34" charset="0"/>
                <a:ea typeface="Arial" pitchFamily="34" charset="-122"/>
                <a:cs typeface="Arial" pitchFamily="34" charset="-120"/>
              </a:rPr>
              <a:t>🎥 100MB Multipart Video Pipeline</a:t>
            </a:r>
            <a:endParaRPr lang="en-US" sz="1500" dirty="0"/>
          </a:p>
        </p:txBody>
      </p:sp>
      <p:sp>
        <p:nvSpPr>
          <p:cNvPr id="8" name="Text 6"/>
          <p:cNvSpPr/>
          <p:nvPr/>
        </p:nvSpPr>
        <p:spPr>
          <a:xfrm>
            <a:off x="1005840" y="2103120"/>
            <a:ext cx="4572000" cy="374904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High-Capacity Server Configuration:
</a:t>
            </a:r>
            <a:pPr indent="0" marL="0">
              <a:buNone/>
            </a:pPr>
            <a:r>
              <a:rPr lang="en-US" sz="1150" dirty="0">
                <a:solidFill>
                  <a:srgbClr val="94A3B8"/>
                </a:solidFill>
                <a:latin typeface="Arial" pitchFamily="34" charset="0"/>
                <a:ea typeface="Arial" pitchFamily="34" charset="-122"/>
                <a:cs typeface="Arial" pitchFamily="34" charset="-120"/>
              </a:rPr>
              <a:t>Configured `spring.servlet.multipart.max-file-size=100MB` in `application.properties` to easily accept 4K UHD video reels.
</a:t>
            </a:r>
            <a:pPr indent="0" marL="0">
              <a:buNone/>
            </a:pPr>
            <a:r>
              <a:rPr lang="en-US" sz="1150" b="1" dirty="0">
                <a:solidFill>
                  <a:srgbClr val="F8FAFC"/>
                </a:solidFill>
                <a:latin typeface="Arial" pitchFamily="34" charset="0"/>
                <a:ea typeface="Arial" pitchFamily="34" charset="-122"/>
                <a:cs typeface="Arial" pitchFamily="34" charset="-120"/>
              </a:rPr>
              <a:t>• Collision-Proof File Storage:
</a:t>
            </a:r>
            <a:pPr indent="0" marL="0">
              <a:buNone/>
            </a:pPr>
            <a:r>
              <a:rPr lang="en-US" sz="1150" dirty="0">
                <a:solidFill>
                  <a:srgbClr val="94A3B8"/>
                </a:solidFill>
                <a:latin typeface="Arial" pitchFamily="34" charset="0"/>
                <a:ea typeface="Arial" pitchFamily="34" charset="-122"/>
                <a:cs typeface="Arial" pitchFamily="34" charset="-120"/>
              </a:rPr>
              <a:t>Generates unique UUID filenames (`&lt;uuid&gt;.mp4`) to prevent file collisions during simultaneous uploads.
</a:t>
            </a:r>
            <a:pPr indent="0" marL="0">
              <a:buNone/>
            </a:pPr>
            <a:r>
              <a:rPr lang="en-US" sz="1150" b="1" dirty="0">
                <a:solidFill>
                  <a:srgbClr val="F8FAFC"/>
                </a:solidFill>
                <a:latin typeface="Arial" pitchFamily="34" charset="0"/>
                <a:ea typeface="Arial" pitchFamily="34" charset="-122"/>
                <a:cs typeface="Arial" pitchFamily="34" charset="-120"/>
              </a:rPr>
              <a:t>• Progressive Static Streaming:
</a:t>
            </a:r>
            <a:pPr indent="0" marL="0">
              <a:buNone/>
            </a:pPr>
            <a:r>
              <a:rPr lang="en-US" sz="1150" dirty="0">
                <a:solidFill>
                  <a:srgbClr val="94A3B8"/>
                </a:solidFill>
                <a:latin typeface="Arial" pitchFamily="34" charset="0"/>
                <a:ea typeface="Arial" pitchFamily="34" charset="-122"/>
                <a:cs typeface="Arial" pitchFamily="34" charset="-120"/>
              </a:rPr>
              <a:t>Spring MVC ResourceHandlers map physical disk paths directly to `/uploads/videos/**`, enabling progressive byte-range video streaming in browsers.</a:t>
            </a:r>
            <a:endParaRPr lang="en-US" sz="1150" dirty="0"/>
          </a:p>
        </p:txBody>
      </p:sp>
      <p:sp>
        <p:nvSpPr>
          <p:cNvPr id="9" name="Shape 7"/>
          <p:cNvSpPr/>
          <p:nvPr/>
        </p:nvSpPr>
        <p:spPr>
          <a:xfrm>
            <a:off x="6217920" y="1371600"/>
            <a:ext cx="5212080" cy="4663440"/>
          </a:xfrm>
          <a:prstGeom prst="rect">
            <a:avLst/>
          </a:prstGeom>
          <a:solidFill>
            <a:srgbClr val="1E293B"/>
          </a:solidFill>
          <a:ln w="12700">
            <a:solidFill>
              <a:srgbClr val="38BDF8"/>
            </a:solidFill>
            <a:prstDash val="solid"/>
          </a:ln>
        </p:spPr>
      </p:sp>
      <p:sp>
        <p:nvSpPr>
          <p:cNvPr id="10" name="Text 8"/>
          <p:cNvSpPr/>
          <p:nvPr/>
        </p:nvSpPr>
        <p:spPr>
          <a:xfrm>
            <a:off x="6492240" y="1645920"/>
            <a:ext cx="4663440" cy="365760"/>
          </a:xfrm>
          <a:prstGeom prst="rect">
            <a:avLst/>
          </a:prstGeom>
          <a:noFill/>
          <a:ln/>
        </p:spPr>
        <p:txBody>
          <a:bodyPr wrap="square" rtlCol="0" anchor="ctr"/>
          <a:lstStyle/>
          <a:p>
            <a:pPr indent="0" marL="0">
              <a:buNone/>
            </a:pPr>
            <a:r>
              <a:rPr lang="en-US" sz="1500" b="1" dirty="0">
                <a:solidFill>
                  <a:srgbClr val="38BDF8"/>
                </a:solidFill>
                <a:latin typeface="Arial" pitchFamily="34" charset="0"/>
                <a:ea typeface="Arial" pitchFamily="34" charset="-122"/>
                <a:cs typeface="Arial" pitchFamily="34" charset="-120"/>
              </a:rPr>
              <a:t>⚡ Smart Client-Side Canvas Processing</a:t>
            </a:r>
            <a:endParaRPr lang="en-US" sz="1500" dirty="0"/>
          </a:p>
        </p:txBody>
      </p:sp>
      <p:sp>
        <p:nvSpPr>
          <p:cNvPr id="11" name="Text 9"/>
          <p:cNvSpPr/>
          <p:nvPr/>
        </p:nvSpPr>
        <p:spPr>
          <a:xfrm>
            <a:off x="6492240" y="2103120"/>
            <a:ext cx="4663440" cy="374904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Zero-Server FFmpeg Overhead:
</a:t>
            </a:r>
            <a:pPr indent="0" marL="0">
              <a:buNone/>
            </a:pPr>
            <a:r>
              <a:rPr lang="en-US" sz="1150" dirty="0">
                <a:solidFill>
                  <a:srgbClr val="94A3B8"/>
                </a:solidFill>
                <a:latin typeface="Arial" pitchFamily="34" charset="0"/>
                <a:ea typeface="Arial" pitchFamily="34" charset="-122"/>
                <a:cs typeface="Arial" pitchFamily="34" charset="-120"/>
              </a:rPr>
              <a:t>Traditional servers require heavy FFmpeg software to generate video thumbnails. We engineered a client-side solution.
</a:t>
            </a:r>
            <a:pPr indent="0" marL="0">
              <a:buNone/>
            </a:pPr>
            <a:r>
              <a:rPr lang="en-US" sz="1150" b="1" dirty="0">
                <a:solidFill>
                  <a:srgbClr val="F8FAFC"/>
                </a:solidFill>
                <a:latin typeface="Arial" pitchFamily="34" charset="0"/>
                <a:ea typeface="Arial" pitchFamily="34" charset="-122"/>
                <a:cs typeface="Arial" pitchFamily="34" charset="-120"/>
              </a:rPr>
              <a:t>• HTML5 Canvas Frame Extraction:
</a:t>
            </a:r>
            <a:pPr indent="0" marL="0">
              <a:buNone/>
            </a:pPr>
            <a:r>
              <a:rPr lang="en-US" sz="1150" dirty="0">
                <a:solidFill>
                  <a:srgbClr val="94A3B8"/>
                </a:solidFill>
                <a:latin typeface="Arial" pitchFamily="34" charset="0"/>
                <a:ea typeface="Arial" pitchFamily="34" charset="-122"/>
                <a:cs typeface="Arial" pitchFamily="34" charset="-120"/>
              </a:rPr>
              <a:t>The browser loads the video into an in-memory `&lt;video&gt;` tag, seeks to 1 second, and draws the frame onto a `&lt;canvas&gt;` element to extract a JPEG poster thumbnail automatically.
</a:t>
            </a:r>
            <a:pPr indent="0" marL="0">
              <a:buNone/>
            </a:pPr>
            <a:r>
              <a:rPr lang="en-US" sz="1150" b="1" dirty="0">
                <a:solidFill>
                  <a:srgbClr val="F8FAFC"/>
                </a:solidFill>
                <a:latin typeface="Arial" pitchFamily="34" charset="0"/>
                <a:ea typeface="Arial" pitchFamily="34" charset="-122"/>
                <a:cs typeface="Arial" pitchFamily="34" charset="-120"/>
              </a:rPr>
              <a:t>• Auto-Duration Calculation:
</a:t>
            </a:r>
            <a:pPr indent="0" marL="0">
              <a:buNone/>
            </a:pPr>
            <a:r>
              <a:rPr lang="en-US" sz="1150" dirty="0">
                <a:solidFill>
                  <a:srgbClr val="94A3B8"/>
                </a:solidFill>
                <a:latin typeface="Arial" pitchFamily="34" charset="0"/>
                <a:ea typeface="Arial" pitchFamily="34" charset="-122"/>
                <a:cs typeface="Arial" pitchFamily="34" charset="-120"/>
              </a:rPr>
              <a:t>Reads video duration metadata directly on the client side and formats it into `m:ss` (e.g., `2:15`) before uploading.</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293B"/>
          </a:solidFill>
          <a:ln w="25400">
            <a:solidFill>
              <a:srgbClr val="7C3AED"/>
            </a:solidFill>
            <a:prstDash val="solid"/>
          </a:ln>
        </p:spPr>
      </p:sp>
      <p:sp>
        <p:nvSpPr>
          <p:cNvPr id="3" name="Text 1"/>
          <p:cNvSpPr/>
          <p:nvPr/>
        </p:nvSpPr>
        <p:spPr>
          <a:xfrm>
            <a:off x="731520" y="137160"/>
            <a:ext cx="8686800" cy="50292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8. Professional / Casting Dashboard &amp; Talent Discovery</a:t>
            </a:r>
            <a:endParaRPr lang="en-US" sz="2200" dirty="0"/>
          </a:p>
        </p:txBody>
      </p:sp>
      <p:sp>
        <p:nvSpPr>
          <p:cNvPr id="4" name="Text 2"/>
          <p:cNvSpPr/>
          <p:nvPr/>
        </p:nvSpPr>
        <p:spPr>
          <a:xfrm>
            <a:off x="731520" y="594360"/>
            <a:ext cx="86868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Dynamic discovery of verified registered talent without mock or fake data</a:t>
            </a:r>
            <a:endParaRPr lang="en-US" sz="1200" dirty="0"/>
          </a:p>
        </p:txBody>
      </p:sp>
      <p:sp>
        <p:nvSpPr>
          <p:cNvPr id="5" name="Text 3"/>
          <p:cNvSpPr/>
          <p:nvPr/>
        </p:nvSpPr>
        <p:spPr>
          <a:xfrm>
            <a:off x="8686800" y="365760"/>
            <a:ext cx="292608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BookMyStars Enterprise Architecture</a:t>
            </a:r>
            <a:endParaRPr lang="en-US" sz="1000" dirty="0"/>
          </a:p>
        </p:txBody>
      </p:sp>
      <p:sp>
        <p:nvSpPr>
          <p:cNvPr id="6" name="Shape 4"/>
          <p:cNvSpPr/>
          <p:nvPr/>
        </p:nvSpPr>
        <p:spPr>
          <a:xfrm>
            <a:off x="731520" y="1371600"/>
            <a:ext cx="5669280" cy="4663440"/>
          </a:xfrm>
          <a:prstGeom prst="rect">
            <a:avLst/>
          </a:prstGeom>
          <a:solidFill>
            <a:srgbClr val="1E293B"/>
          </a:solidFill>
          <a:ln w="12700">
            <a:solidFill>
              <a:srgbClr val="334155"/>
            </a:solidFill>
            <a:prstDash val="solid"/>
          </a:ln>
        </p:spPr>
      </p:sp>
      <p:sp>
        <p:nvSpPr>
          <p:cNvPr id="7" name="Text 5"/>
          <p:cNvSpPr/>
          <p:nvPr/>
        </p:nvSpPr>
        <p:spPr>
          <a:xfrm>
            <a:off x="1005840" y="1645920"/>
            <a:ext cx="5120640" cy="411480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Real Database Querying (`/api/users/talents`):
</a:t>
            </a:r>
            <a:pPr indent="0" marL="0">
              <a:buNone/>
            </a:pPr>
            <a:r>
              <a:rPr lang="en-US" sz="1150" dirty="0">
                <a:solidFill>
                  <a:srgbClr val="94A3B8"/>
                </a:solidFill>
                <a:latin typeface="Arial" pitchFamily="34" charset="0"/>
                <a:ea typeface="Arial" pitchFamily="34" charset="-122"/>
                <a:cs typeface="Arial" pitchFamily="34" charset="-120"/>
              </a:rPr>
              <a:t>Eliminated all hardcoded placeholder data. The discovery grid queries only registered talent from PostgreSQL with active profiles.
</a:t>
            </a:r>
            <a:pPr indent="0" marL="0">
              <a:buNone/>
            </a:pPr>
            <a:r>
              <a:rPr lang="en-US" sz="1150" b="1" dirty="0">
                <a:solidFill>
                  <a:srgbClr val="F8FAFC"/>
                </a:solidFill>
                <a:latin typeface="Arial" pitchFamily="34" charset="0"/>
                <a:ea typeface="Arial" pitchFamily="34" charset="-122"/>
                <a:cs typeface="Arial" pitchFamily="34" charset="-120"/>
              </a:rPr>
              <a:t>• Multi-Category Filter System:
</a:t>
            </a:r>
            <a:pPr indent="0" marL="0">
              <a:buNone/>
            </a:pPr>
            <a:r>
              <a:rPr lang="en-US" sz="1150" dirty="0">
                <a:solidFill>
                  <a:srgbClr val="94A3B8"/>
                </a:solidFill>
                <a:latin typeface="Arial" pitchFamily="34" charset="0"/>
                <a:ea typeface="Arial" pitchFamily="34" charset="-122"/>
                <a:cs typeface="Arial" pitchFamily="34" charset="-120"/>
              </a:rPr>
              <a:t>Allows casting directors to filter registered talents by profession (Actors, Models, Singers, Dancers, Directors) and location.
</a:t>
            </a:r>
            <a:pPr indent="0" marL="0">
              <a:buNone/>
            </a:pPr>
            <a:r>
              <a:rPr lang="en-US" sz="1150" b="1" dirty="0">
                <a:solidFill>
                  <a:srgbClr val="F8FAFC"/>
                </a:solidFill>
                <a:latin typeface="Arial" pitchFamily="34" charset="0"/>
                <a:ea typeface="Arial" pitchFamily="34" charset="-122"/>
                <a:cs typeface="Arial" pitchFamily="34" charset="-120"/>
              </a:rPr>
              <a:t>• In-Depth Portfolio Inspector:
</a:t>
            </a:r>
            <a:pPr indent="0" marL="0">
              <a:buNone/>
            </a:pPr>
            <a:r>
              <a:rPr lang="en-US" sz="1150" dirty="0">
                <a:solidFill>
                  <a:srgbClr val="94A3B8"/>
                </a:solidFill>
                <a:latin typeface="Arial" pitchFamily="34" charset="0"/>
                <a:ea typeface="Arial" pitchFamily="34" charset="-122"/>
                <a:cs typeface="Arial" pitchFamily="34" charset="-120"/>
              </a:rPr>
              <a:t>Clicking any talent card displays their photos, video showreels, verified measurements, and past work experiences in a clean, view-only inspector.
</a:t>
            </a:r>
            <a:pPr indent="0" marL="0">
              <a:buNone/>
            </a:pPr>
            <a:r>
              <a:rPr lang="en-US" sz="1150" b="1" dirty="0">
                <a:solidFill>
                  <a:srgbClr val="F8FAFC"/>
                </a:solidFill>
                <a:latin typeface="Arial" pitchFamily="34" charset="0"/>
                <a:ea typeface="Arial" pitchFamily="34" charset="-122"/>
                <a:cs typeface="Arial" pitchFamily="34" charset="-120"/>
              </a:rPr>
              <a:t>• Role-Based Guardrails:
</a:t>
            </a:r>
            <a:pPr indent="0" marL="0">
              <a:buNone/>
            </a:pPr>
            <a:r>
              <a:rPr lang="en-US" sz="1150" dirty="0">
                <a:solidFill>
                  <a:srgbClr val="94A3B8"/>
                </a:solidFill>
                <a:latin typeface="Arial" pitchFamily="34" charset="0"/>
                <a:ea typeface="Arial" pitchFamily="34" charset="-122"/>
                <a:cs typeface="Arial" pitchFamily="34" charset="-120"/>
              </a:rPr>
              <a:t>Professionals can evaluate all assets, but booking management tabs are restricted to protect platform integrity.</a:t>
            </a:r>
            <a:endParaRPr lang="en-US" sz="1150" dirty="0"/>
          </a:p>
        </p:txBody>
      </p:sp>
      <p:pic>
        <p:nvPicPr>
          <p:cNvPr id="8" name="Image 0" descr="C:\Users\User\.gemini\antigravity\brain\f1517739-a329-4601-ac86-a352aa8c2fbe\.user_uploaded\media_1791617001931_56e70d8d.png">    </p:cNvPr>
          <p:cNvPicPr>
            <a:picLocks noChangeAspect="1"/>
          </p:cNvPicPr>
          <p:nvPr/>
        </p:nvPicPr>
        <p:blipFill>
          <a:blip r:embed="rId1"/>
          <a:stretch>
            <a:fillRect/>
          </a:stretch>
        </p:blipFill>
        <p:spPr>
          <a:xfrm>
            <a:off x="6675120" y="1371600"/>
            <a:ext cx="4754880" cy="46634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293B"/>
          </a:solidFill>
          <a:ln w="25400">
            <a:solidFill>
              <a:srgbClr val="7C3AED"/>
            </a:solidFill>
            <a:prstDash val="solid"/>
          </a:ln>
        </p:spPr>
      </p:sp>
      <p:sp>
        <p:nvSpPr>
          <p:cNvPr id="3" name="Text 1"/>
          <p:cNvSpPr/>
          <p:nvPr/>
        </p:nvSpPr>
        <p:spPr>
          <a:xfrm>
            <a:off x="731520" y="137160"/>
            <a:ext cx="8686800" cy="50292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9. Shoot Bookings, Packages &amp; One-Click Deep-Links</a:t>
            </a:r>
            <a:endParaRPr lang="en-US" sz="2200" dirty="0"/>
          </a:p>
        </p:txBody>
      </p:sp>
      <p:sp>
        <p:nvSpPr>
          <p:cNvPr id="4" name="Text 2"/>
          <p:cNvSpPr/>
          <p:nvPr/>
        </p:nvSpPr>
        <p:spPr>
          <a:xfrm>
            <a:off x="731520" y="594360"/>
            <a:ext cx="86868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Commercial workflow: Shoot bookings and multi-channel casting pitches</a:t>
            </a:r>
            <a:endParaRPr lang="en-US" sz="1200" dirty="0"/>
          </a:p>
        </p:txBody>
      </p:sp>
      <p:sp>
        <p:nvSpPr>
          <p:cNvPr id="5" name="Text 3"/>
          <p:cNvSpPr/>
          <p:nvPr/>
        </p:nvSpPr>
        <p:spPr>
          <a:xfrm>
            <a:off x="8686800" y="365760"/>
            <a:ext cx="292608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BookMyStars Enterprise Architecture</a:t>
            </a:r>
            <a:endParaRPr lang="en-US" sz="1000" dirty="0"/>
          </a:p>
        </p:txBody>
      </p:sp>
      <p:sp>
        <p:nvSpPr>
          <p:cNvPr id="6" name="Shape 4"/>
          <p:cNvSpPr/>
          <p:nvPr/>
        </p:nvSpPr>
        <p:spPr>
          <a:xfrm>
            <a:off x="731520" y="1371600"/>
            <a:ext cx="5120640" cy="4663440"/>
          </a:xfrm>
          <a:prstGeom prst="rect">
            <a:avLst/>
          </a:prstGeom>
          <a:solidFill>
            <a:srgbClr val="1E293B"/>
          </a:solidFill>
          <a:ln w="12700">
            <a:solidFill>
              <a:srgbClr val="7C3AED"/>
            </a:solidFill>
            <a:prstDash val="solid"/>
          </a:ln>
        </p:spPr>
      </p:sp>
      <p:sp>
        <p:nvSpPr>
          <p:cNvPr id="7" name="Text 5"/>
          <p:cNvSpPr/>
          <p:nvPr/>
        </p:nvSpPr>
        <p:spPr>
          <a:xfrm>
            <a:off x="1005840" y="1645920"/>
            <a:ext cx="4572000" cy="365760"/>
          </a:xfrm>
          <a:prstGeom prst="rect">
            <a:avLst/>
          </a:prstGeom>
          <a:noFill/>
          <a:ln/>
        </p:spPr>
        <p:txBody>
          <a:bodyPr wrap="square" rtlCol="0" anchor="ctr"/>
          <a:lstStyle/>
          <a:p>
            <a:pPr indent="0" marL="0">
              <a:buNone/>
            </a:pPr>
            <a:r>
              <a:rPr lang="en-US" sz="1500" b="1" dirty="0">
                <a:solidFill>
                  <a:srgbClr val="7C3AED"/>
                </a:solidFill>
                <a:latin typeface="Arial" pitchFamily="34" charset="0"/>
                <a:ea typeface="Arial" pitchFamily="34" charset="-122"/>
                <a:cs typeface="Arial" pitchFamily="34" charset="-120"/>
              </a:rPr>
              <a:t>📅 Shoot Bookings &amp; Packages</a:t>
            </a:r>
            <a:endParaRPr lang="en-US" sz="1500" dirty="0"/>
          </a:p>
        </p:txBody>
      </p:sp>
      <p:sp>
        <p:nvSpPr>
          <p:cNvPr id="8" name="Text 6"/>
          <p:cNvSpPr/>
          <p:nvPr/>
        </p:nvSpPr>
        <p:spPr>
          <a:xfrm>
            <a:off x="1005840" y="2103120"/>
            <a:ext cx="4572000" cy="374904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Commercial Packages CRUD:
</a:t>
            </a:r>
            <a:pPr indent="0" marL="0">
              <a:buNone/>
            </a:pPr>
            <a:r>
              <a:rPr lang="en-US" sz="1150" dirty="0">
                <a:solidFill>
                  <a:srgbClr val="94A3B8"/>
                </a:solidFill>
                <a:latin typeface="Arial" pitchFamily="34" charset="0"/>
                <a:ea typeface="Arial" pitchFamily="34" charset="-122"/>
                <a:cs typeface="Arial" pitchFamily="34" charset="-120"/>
              </a:rPr>
              <a:t>Talents can define pricing packages for half-day shoots, full-day feature shoots, and brand campaigns.
</a:t>
            </a:r>
            <a:pPr indent="0" marL="0">
              <a:buNone/>
            </a:pPr>
            <a:r>
              <a:rPr lang="en-US" sz="1150" b="1" dirty="0">
                <a:solidFill>
                  <a:srgbClr val="F8FAFC"/>
                </a:solidFill>
                <a:latin typeface="Arial" pitchFamily="34" charset="0"/>
                <a:ea typeface="Arial" pitchFamily="34" charset="-122"/>
                <a:cs typeface="Arial" pitchFamily="34" charset="-120"/>
              </a:rPr>
              <a:t>• Incoming Booking Banners:
</a:t>
            </a:r>
            <a:pPr indent="0" marL="0">
              <a:buNone/>
            </a:pPr>
            <a:r>
              <a:rPr lang="en-US" sz="1150" dirty="0">
                <a:solidFill>
                  <a:srgbClr val="94A3B8"/>
                </a:solidFill>
                <a:latin typeface="Arial" pitchFamily="34" charset="0"/>
                <a:ea typeface="Arial" pitchFamily="34" charset="-122"/>
                <a:cs typeface="Arial" pitchFamily="34" charset="-120"/>
              </a:rPr>
              <a:t>When a professional requests a shoot, the talent dashboard highlights a gradient banner: 'You have new shoot booking requests!' with direct review links.
</a:t>
            </a:r>
            <a:pPr indent="0" marL="0">
              <a:buNone/>
            </a:pPr>
            <a:r>
              <a:rPr lang="en-US" sz="1150" b="1" dirty="0">
                <a:solidFill>
                  <a:srgbClr val="F8FAFC"/>
                </a:solidFill>
                <a:latin typeface="Arial" pitchFamily="34" charset="0"/>
                <a:ea typeface="Arial" pitchFamily="34" charset="-122"/>
                <a:cs typeface="Arial" pitchFamily="34" charset="-120"/>
              </a:rPr>
              <a:t>• Status Workflow:
</a:t>
            </a:r>
            <a:pPr indent="0" marL="0">
              <a:buNone/>
            </a:pPr>
            <a:r>
              <a:rPr lang="en-US" sz="1150" dirty="0">
                <a:solidFill>
                  <a:srgbClr val="94A3B8"/>
                </a:solidFill>
                <a:latin typeface="Arial" pitchFamily="34" charset="0"/>
                <a:ea typeface="Arial" pitchFamily="34" charset="-122"/>
                <a:cs typeface="Arial" pitchFamily="34" charset="-120"/>
              </a:rPr>
              <a:t>Bookings move through structured states: PENDING, CONFIRMED, COMPLETED, or DECLINED.</a:t>
            </a:r>
            <a:endParaRPr lang="en-US" sz="1150" dirty="0"/>
          </a:p>
        </p:txBody>
      </p:sp>
      <p:sp>
        <p:nvSpPr>
          <p:cNvPr id="9" name="Shape 7"/>
          <p:cNvSpPr/>
          <p:nvPr/>
        </p:nvSpPr>
        <p:spPr>
          <a:xfrm>
            <a:off x="6217920" y="1371600"/>
            <a:ext cx="5212080" cy="4663440"/>
          </a:xfrm>
          <a:prstGeom prst="rect">
            <a:avLst/>
          </a:prstGeom>
          <a:solidFill>
            <a:srgbClr val="1E293B"/>
          </a:solidFill>
          <a:ln w="12700">
            <a:solidFill>
              <a:srgbClr val="10B981"/>
            </a:solidFill>
            <a:prstDash val="solid"/>
          </a:ln>
        </p:spPr>
      </p:sp>
      <p:sp>
        <p:nvSpPr>
          <p:cNvPr id="10" name="Text 8"/>
          <p:cNvSpPr/>
          <p:nvPr/>
        </p:nvSpPr>
        <p:spPr>
          <a:xfrm>
            <a:off x="6492240" y="1645920"/>
            <a:ext cx="4663440" cy="365760"/>
          </a:xfrm>
          <a:prstGeom prst="rect">
            <a:avLst/>
          </a:prstGeom>
          <a:noFill/>
          <a:ln/>
        </p:spPr>
        <p:txBody>
          <a:bodyPr wrap="square" rtlCol="0" anchor="ctr"/>
          <a:lstStyle/>
          <a:p>
            <a:pPr indent="0" marL="0">
              <a:buNone/>
            </a:pPr>
            <a:r>
              <a:rPr lang="en-US" sz="1500" b="1" dirty="0">
                <a:solidFill>
                  <a:srgbClr val="10B981"/>
                </a:solidFill>
                <a:latin typeface="Arial" pitchFamily="34" charset="0"/>
                <a:ea typeface="Arial" pitchFamily="34" charset="-122"/>
                <a:cs typeface="Arial" pitchFamily="34" charset="-120"/>
              </a:rPr>
              <a:t>🚀 One-Click Multi-Channel Deep Links</a:t>
            </a:r>
            <a:endParaRPr lang="en-US" sz="1500" dirty="0"/>
          </a:p>
        </p:txBody>
      </p:sp>
      <p:sp>
        <p:nvSpPr>
          <p:cNvPr id="11" name="Text 9"/>
          <p:cNvSpPr/>
          <p:nvPr/>
        </p:nvSpPr>
        <p:spPr>
          <a:xfrm>
            <a:off x="6492240" y="2103120"/>
            <a:ext cx="4663440" cy="374904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WhatsApp Integration:
</a:t>
            </a:r>
            <a:pPr indent="0" marL="0">
              <a:buNone/>
            </a:pPr>
            <a:r>
              <a:rPr lang="en-US" sz="1150" dirty="0">
                <a:solidFill>
                  <a:srgbClr val="94A3B8"/>
                </a:solidFill>
                <a:latin typeface="Arial" pitchFamily="34" charset="0"/>
                <a:ea typeface="Arial" pitchFamily="34" charset="-122"/>
                <a:cs typeface="Arial" pitchFamily="34" charset="-120"/>
              </a:rPr>
              <a:t>One-click button compiles talent details, unique ID, and direct profile link into pre-formatted WhatsApp chat text.
</a:t>
            </a:r>
            <a:pPr indent="0" marL="0">
              <a:buNone/>
            </a:pPr>
            <a:r>
              <a:rPr lang="en-US" sz="1150" b="1" dirty="0">
                <a:solidFill>
                  <a:srgbClr val="F8FAFC"/>
                </a:solidFill>
                <a:latin typeface="Arial" pitchFamily="34" charset="0"/>
                <a:ea typeface="Arial" pitchFamily="34" charset="-122"/>
                <a:cs typeface="Arial" pitchFamily="34" charset="-120"/>
              </a:rPr>
              <a:t>• Gmail &amp; Outlook Web Deep-Links:
</a:t>
            </a:r>
            <a:pPr indent="0" marL="0">
              <a:buNone/>
            </a:pPr>
            <a:r>
              <a:rPr lang="en-US" sz="1150" dirty="0">
                <a:solidFill>
                  <a:srgbClr val="94A3B8"/>
                </a:solidFill>
                <a:latin typeface="Arial" pitchFamily="34" charset="0"/>
                <a:ea typeface="Arial" pitchFamily="34" charset="-122"/>
                <a:cs typeface="Arial" pitchFamily="34" charset="-120"/>
              </a:rPr>
              <a:t>Opens direct web composers in Gmail and Outlook with professional subject lines and casting proposals.
</a:t>
            </a:r>
            <a:pPr indent="0" marL="0">
              <a:buNone/>
            </a:pPr>
            <a:r>
              <a:rPr lang="en-US" sz="1150" b="1" dirty="0">
                <a:solidFill>
                  <a:srgbClr val="F8FAFC"/>
                </a:solidFill>
                <a:latin typeface="Arial" pitchFamily="34" charset="0"/>
                <a:ea typeface="Arial" pitchFamily="34" charset="-122"/>
                <a:cs typeface="Arial" pitchFamily="34" charset="-120"/>
              </a:rPr>
              <a:t>• Native Mailto &amp; Copy Link:
</a:t>
            </a:r>
            <a:pPr indent="0" marL="0">
              <a:buNone/>
            </a:pPr>
            <a:r>
              <a:rPr lang="en-US" sz="1150" dirty="0">
                <a:solidFill>
                  <a:srgbClr val="94A3B8"/>
                </a:solidFill>
                <a:latin typeface="Arial" pitchFamily="34" charset="0"/>
                <a:ea typeface="Arial" pitchFamily="34" charset="-122"/>
                <a:cs typeface="Arial" pitchFamily="34" charset="-120"/>
              </a:rPr>
              <a:t>Supports system email clients and quick clipboard copying with instant visual feedback.</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293B"/>
          </a:solidFill>
          <a:ln w="25400">
            <a:solidFill>
              <a:srgbClr val="7C3AED"/>
            </a:solidFill>
            <a:prstDash val="solid"/>
          </a:ln>
        </p:spPr>
      </p:sp>
      <p:sp>
        <p:nvSpPr>
          <p:cNvPr id="3" name="Text 1"/>
          <p:cNvSpPr/>
          <p:nvPr/>
        </p:nvSpPr>
        <p:spPr>
          <a:xfrm>
            <a:off x="731520" y="137160"/>
            <a:ext cx="8686800" cy="50292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10. Technical Terms Glossary &amp; Viva / Evaluation Q&amp;A</a:t>
            </a:r>
            <a:endParaRPr lang="en-US" sz="2200" dirty="0"/>
          </a:p>
        </p:txBody>
      </p:sp>
      <p:sp>
        <p:nvSpPr>
          <p:cNvPr id="4" name="Text 2"/>
          <p:cNvSpPr/>
          <p:nvPr/>
        </p:nvSpPr>
        <p:spPr>
          <a:xfrm>
            <a:off x="731520" y="594360"/>
            <a:ext cx="86868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Key concepts and precise technical terminology for evaluation questions</a:t>
            </a:r>
            <a:endParaRPr lang="en-US" sz="1200" dirty="0"/>
          </a:p>
        </p:txBody>
      </p:sp>
      <p:sp>
        <p:nvSpPr>
          <p:cNvPr id="5" name="Text 3"/>
          <p:cNvSpPr/>
          <p:nvPr/>
        </p:nvSpPr>
        <p:spPr>
          <a:xfrm>
            <a:off x="8686800" y="365760"/>
            <a:ext cx="292608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BookMyStars Enterprise Architecture</a:t>
            </a:r>
            <a:endParaRPr lang="en-US" sz="1000" dirty="0"/>
          </a:p>
        </p:txBody>
      </p:sp>
      <p:sp>
        <p:nvSpPr>
          <p:cNvPr id="6" name="Shape 4"/>
          <p:cNvSpPr/>
          <p:nvPr/>
        </p:nvSpPr>
        <p:spPr>
          <a:xfrm>
            <a:off x="731520" y="1371600"/>
            <a:ext cx="10698480" cy="4663440"/>
          </a:xfrm>
          <a:prstGeom prst="rect">
            <a:avLst/>
          </a:prstGeom>
          <a:solidFill>
            <a:srgbClr val="1E293B"/>
          </a:solidFill>
          <a:ln w="12700">
            <a:solidFill>
              <a:srgbClr val="38BDF8"/>
            </a:solidFill>
            <a:prstDash val="solid"/>
          </a:ln>
        </p:spPr>
      </p:sp>
      <p:sp>
        <p:nvSpPr>
          <p:cNvPr id="7" name="Text 5"/>
          <p:cNvSpPr/>
          <p:nvPr/>
        </p:nvSpPr>
        <p:spPr>
          <a:xfrm>
            <a:off x="1005840" y="1645920"/>
            <a:ext cx="10149840" cy="4114800"/>
          </a:xfrm>
          <a:prstGeom prst="rect">
            <a:avLst/>
          </a:prstGeom>
          <a:noFill/>
          <a:ln/>
        </p:spPr>
        <p:txBody>
          <a:bodyPr wrap="square" rtlCol="0" anchor="ctr"/>
          <a:lstStyle/>
          <a:p>
            <a:pPr indent="0" marL="0">
              <a:buNone/>
            </a:pPr>
            <a:r>
              <a:rPr lang="en-US" sz="1150" b="1" dirty="0">
                <a:solidFill>
                  <a:srgbClr val="38BDF8"/>
                </a:solidFill>
                <a:latin typeface="Arial" pitchFamily="34" charset="0"/>
                <a:ea typeface="Arial" pitchFamily="34" charset="-122"/>
                <a:cs typeface="Arial" pitchFamily="34" charset="-120"/>
              </a:rPr>
              <a:t>TECHNICAL CONCEPT			PRECISE EXPLANATION
</a:t>
            </a:r>
            <a:pPr indent="0" marL="0">
              <a:buNone/>
            </a:pPr>
            <a:r>
              <a:rPr lang="en-US" sz="1000" dirty="0">
                <a:solidFill>
                  <a:srgbClr val="F8FAFC"/>
                </a:solidFill>
                <a:latin typeface="Arial" pitchFamily="34" charset="0"/>
                <a:ea typeface="Arial" pitchFamily="34" charset="-122"/>
                <a:cs typeface="Arial" pitchFamily="34" charset="-120"/>
              </a:rPr>
              <a:t>Single Page Application (SPA)		Loads one HTML page; React Router dynamically rewires the DOM without page refreshes.
</a:t>
            </a:r>
            <a:pPr indent="0" marL="0">
              <a:buNone/>
            </a:pPr>
            <a:r>
              <a:rPr lang="en-US" sz="1000" dirty="0">
                <a:solidFill>
                  <a:srgbClr val="94A3B8"/>
                </a:solidFill>
                <a:latin typeface="Arial" pitchFamily="34" charset="0"/>
                <a:ea typeface="Arial" pitchFamily="34" charset="-122"/>
                <a:cs typeface="Arial" pitchFamily="34" charset="-120"/>
              </a:rPr>
              <a:t>Stateless JWT Auth			Server maintains zero session memory; identity is cryptographically verified from the token header.
</a:t>
            </a:r>
            <a:pPr indent="0" marL="0">
              <a:buNone/>
            </a:pPr>
            <a:r>
              <a:rPr lang="en-US" sz="1000" dirty="0">
                <a:solidFill>
                  <a:srgbClr val="F8FAFC"/>
                </a:solidFill>
                <a:latin typeface="Arial" pitchFamily="34" charset="0"/>
                <a:ea typeface="Arial" pitchFamily="34" charset="-122"/>
                <a:cs typeface="Arial" pitchFamily="34" charset="-120"/>
              </a:rPr>
              <a:t>DTO Pattern				Data Transfer Objects separate database entities from API output, preventing sensitive data leakage.
</a:t>
            </a:r>
            <a:pPr indent="0" marL="0">
              <a:buNone/>
            </a:pPr>
            <a:r>
              <a:rPr lang="en-US" sz="1000" dirty="0">
                <a:solidFill>
                  <a:srgbClr val="94A3B8"/>
                </a:solidFill>
                <a:latin typeface="Arial" pitchFamily="34" charset="0"/>
                <a:ea typeface="Arial" pitchFamily="34" charset="-122"/>
                <a:cs typeface="Arial" pitchFamily="34" charset="-120"/>
              </a:rPr>
              <a:t>Object-Relational Mapping (ORM)	Hibernate maps Java objects directly to PostgreSQL tables, eliminating fragile raw SQL queries.
</a:t>
            </a:r>
            <a:pPr indent="0" marL="0">
              <a:buNone/>
            </a:pPr>
            <a:r>
              <a:rPr lang="en-US" sz="1000" dirty="0">
                <a:solidFill>
                  <a:srgbClr val="F8FAFC"/>
                </a:solidFill>
                <a:latin typeface="Arial" pitchFamily="34" charset="0"/>
                <a:ea typeface="Arial" pitchFamily="34" charset="-122"/>
                <a:cs typeface="Arial" pitchFamily="34" charset="-120"/>
              </a:rPr>
              <a:t>Optimistic UI				UI reflects state changes immediately before server confirmation, rolling back only on failure.
</a:t>
            </a:r>
            <a:pPr indent="0" marL="0">
              <a:buNone/>
            </a:pPr>
            <a:r>
              <a:rPr lang="en-US" sz="1000" dirty="0">
                <a:solidFill>
                  <a:srgbClr val="94A3B8"/>
                </a:solidFill>
                <a:latin typeface="Arial" pitchFamily="34" charset="0"/>
                <a:ea typeface="Arial" pitchFamily="34" charset="-122"/>
                <a:cs typeface="Arial" pitchFamily="34" charset="-120"/>
              </a:rPr>
              <a:t>Atomic UPSERT				Insert-or-update database pattern preventing 500 errors when records do not yet exist.
</a:t>
            </a:r>
            <a:pPr indent="0" marL="0">
              <a:buNone/>
            </a:pPr>
            <a:r>
              <a:rPr lang="en-US" sz="1000" dirty="0">
                <a:solidFill>
                  <a:srgbClr val="F8FAFC"/>
                </a:solidFill>
                <a:latin typeface="Arial" pitchFamily="34" charset="0"/>
                <a:ea typeface="Arial" pitchFamily="34" charset="-122"/>
                <a:cs typeface="Arial" pitchFamily="34" charset="-120"/>
              </a:rPr>
              <a:t>Multipart/Form-Data			MIME protocol allowing concurrent transmission of binary files (videos) alongside JSON text.
</a:t>
            </a:r>
            <a:pPr indent="0" marL="0">
              <a:buNone/>
            </a:pPr>
            <a:r>
              <a:rPr lang="en-US" sz="1000" dirty="0">
                <a:solidFill>
                  <a:srgbClr val="94A3B8"/>
                </a:solidFill>
                <a:latin typeface="Arial" pitchFamily="34" charset="0"/>
                <a:ea typeface="Arial" pitchFamily="34" charset="-122"/>
                <a:cs typeface="Arial" pitchFamily="34" charset="-120"/>
              </a:rPr>
              <a:t>Client-Side Canvas Processing	Extracts video poster frames in browser memory via HTML5 Canvas, eliminating server FFmpeg load.
</a:t>
            </a:r>
            <a:pPr indent="0" marL="0">
              <a:buNone/>
            </a:pPr>
            <a:r>
              <a:rPr lang="en-US" sz="1000" dirty="0">
                <a:solidFill>
                  <a:srgbClr val="F8FAFC"/>
                </a:solidFill>
                <a:latin typeface="Arial" pitchFamily="34" charset="0"/>
                <a:ea typeface="Arial" pitchFamily="34" charset="-122"/>
                <a:cs typeface="Arial" pitchFamily="34" charset="-120"/>
              </a:rPr>
              <a:t>Data Stripping (Security)		Removes restricted fields in Java before sending JSON, ensuring true privacy rather than CSS hiding.
</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293B"/>
          </a:solidFill>
          <a:ln w="25400">
            <a:solidFill>
              <a:srgbClr val="7C3AED"/>
            </a:solidFill>
            <a:prstDash val="solid"/>
          </a:ln>
        </p:spPr>
      </p:sp>
      <p:sp>
        <p:nvSpPr>
          <p:cNvPr id="3" name="Text 1"/>
          <p:cNvSpPr/>
          <p:nvPr/>
        </p:nvSpPr>
        <p:spPr>
          <a:xfrm>
            <a:off x="731520" y="137160"/>
            <a:ext cx="8686800" cy="50292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11. Step-by-Step Live Demonstration Guide</a:t>
            </a:r>
            <a:endParaRPr lang="en-US" sz="2200" dirty="0"/>
          </a:p>
        </p:txBody>
      </p:sp>
      <p:sp>
        <p:nvSpPr>
          <p:cNvPr id="4" name="Text 2"/>
          <p:cNvSpPr/>
          <p:nvPr/>
        </p:nvSpPr>
        <p:spPr>
          <a:xfrm>
            <a:off x="731520" y="594360"/>
            <a:ext cx="86868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The exact sequence to follow during your live system walkthrough</a:t>
            </a:r>
            <a:endParaRPr lang="en-US" sz="1200" dirty="0"/>
          </a:p>
        </p:txBody>
      </p:sp>
      <p:sp>
        <p:nvSpPr>
          <p:cNvPr id="5" name="Text 3"/>
          <p:cNvSpPr/>
          <p:nvPr/>
        </p:nvSpPr>
        <p:spPr>
          <a:xfrm>
            <a:off x="8686800" y="365760"/>
            <a:ext cx="292608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BookMyStars Enterprise Architecture</a:t>
            </a:r>
            <a:endParaRPr lang="en-US" sz="1000" dirty="0"/>
          </a:p>
        </p:txBody>
      </p:sp>
      <p:sp>
        <p:nvSpPr>
          <p:cNvPr id="6" name="Shape 4"/>
          <p:cNvSpPr/>
          <p:nvPr/>
        </p:nvSpPr>
        <p:spPr>
          <a:xfrm>
            <a:off x="731520" y="1371600"/>
            <a:ext cx="10698480" cy="4663440"/>
          </a:xfrm>
          <a:prstGeom prst="rect">
            <a:avLst/>
          </a:prstGeom>
          <a:solidFill>
            <a:srgbClr val="1E293B"/>
          </a:solidFill>
          <a:ln w="12700">
            <a:solidFill>
              <a:srgbClr val="7C3AED"/>
            </a:solidFill>
            <a:prstDash val="solid"/>
          </a:ln>
        </p:spPr>
      </p:sp>
      <p:sp>
        <p:nvSpPr>
          <p:cNvPr id="7" name="Text 5"/>
          <p:cNvSpPr/>
          <p:nvPr/>
        </p:nvSpPr>
        <p:spPr>
          <a:xfrm>
            <a:off x="1097280" y="1554480"/>
            <a:ext cx="9966960" cy="4297680"/>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STEP 1: TALENT ONBOARDING &amp; DASHBOARD (http://localhost:5173/dashboard)
</a:t>
            </a:r>
            <a:pPr indent="0" marL="0">
              <a:buNone/>
            </a:pPr>
            <a:r>
              <a:rPr lang="en-US" sz="1100" dirty="0">
                <a:solidFill>
                  <a:srgbClr val="94A3B8"/>
                </a:solidFill>
                <a:latin typeface="Arial" pitchFamily="34" charset="0"/>
                <a:ea typeface="Arial" pitchFamily="34" charset="-122"/>
                <a:cs typeface="Arial" pitchFamily="34" charset="-120"/>
              </a:rPr>
              <a:t>• Log in as a Talent. Point out the dynamic demographics (Age calculated from DOB, multi-role tags).
• Demonstrate the toggle switch next to the photo: click to switch to 'Private Account'. Show instant UI animation.
</a:t>
            </a:r>
            <a:pPr indent="0" marL="0">
              <a:buNone/>
            </a:pPr>
            <a:r>
              <a:rPr lang="en-US" sz="1200" b="1" dirty="0">
                <a:solidFill>
                  <a:srgbClr val="EC4899"/>
                </a:solidFill>
                <a:latin typeface="Arial" pitchFamily="34" charset="0"/>
                <a:ea typeface="Arial" pitchFamily="34" charset="-122"/>
                <a:cs typeface="Arial" pitchFamily="34" charset="-120"/>
              </a:rPr>
              <a:t>STEP 2: PUBLIC SHARED PROFILE &amp; LOCKED ACCESS (http://localhost:5173/public-profile/7)
</a:t>
            </a:r>
            <a:pPr indent="0" marL="0">
              <a:buNone/>
            </a:pPr>
            <a:r>
              <a:rPr lang="en-US" sz="1100" dirty="0">
                <a:solidFill>
                  <a:srgbClr val="94A3B8"/>
                </a:solidFill>
                <a:latin typeface="Arial" pitchFamily="34" charset="0"/>
                <a:ea typeface="Arial" pitchFamily="34" charset="-122"/>
                <a:cs typeface="Arial" pitchFamily="34" charset="-120"/>
              </a:rPr>
              <a:t>• Copy public link, open an Incognito window. Show the locked screen: 'This Account is Private'.
• Inspect Network tab to prove media data is NOT delivered in the JSON payload (true backend security).
• Click 'Request to View Profile', enter name, email, role (e.g. Casting Director), and submit.
</a:t>
            </a:r>
            <a:pPr indent="0" marL="0">
              <a:buNone/>
            </a:pPr>
            <a:r>
              <a:rPr lang="en-US" sz="1200" b="1" dirty="0">
                <a:solidFill>
                  <a:srgbClr val="10B981"/>
                </a:solidFill>
                <a:latin typeface="Arial" pitchFamily="34" charset="0"/>
                <a:ea typeface="Arial" pitchFamily="34" charset="-122"/>
                <a:cs typeface="Arial" pitchFamily="34" charset="-120"/>
              </a:rPr>
              <a:t>STEP 3: TALENT APPROVAL WORKFLOW
</a:t>
            </a:r>
            <a:pPr indent="0" marL="0">
              <a:buNone/>
            </a:pPr>
            <a:r>
              <a:rPr lang="en-US" sz="1100" dirty="0">
                <a:solidFill>
                  <a:srgbClr val="94A3B8"/>
                </a:solidFill>
                <a:latin typeface="Arial" pitchFamily="34" charset="0"/>
                <a:ea typeface="Arial" pitchFamily="34" charset="-122"/>
                <a:cs typeface="Arial" pitchFamily="34" charset="-120"/>
              </a:rPr>
              <a:t>• Switch back to Talent Dashboard. Highlight the 'Pending Profile Requests' banner and counter badge.
• Open modal, review requester details, click 'Approve Access'.
• Refresh Incognito window: the profile instantly unlocks, displaying all photos, showreels, and measurements!
</a:t>
            </a:r>
            <a:pPr indent="0" marL="0">
              <a:buNone/>
            </a:pPr>
            <a:r>
              <a:rPr lang="en-US" sz="1200" b="1" dirty="0">
                <a:solidFill>
                  <a:srgbClr val="F8FAFC"/>
                </a:solidFill>
                <a:latin typeface="Arial" pitchFamily="34" charset="0"/>
                <a:ea typeface="Arial" pitchFamily="34" charset="-122"/>
                <a:cs typeface="Arial" pitchFamily="34" charset="-120"/>
              </a:rPr>
              <a:t>STEP 4: PROFESSIONAL DASHBOARD (http://localhost:5173/client-dashboard)
</a:t>
            </a:r>
            <a:pPr indent="0" marL="0">
              <a:buNone/>
            </a:pPr>
            <a:r>
              <a:rPr lang="en-US" sz="1100" dirty="0">
                <a:solidFill>
                  <a:srgbClr val="94A3B8"/>
                </a:solidFill>
                <a:latin typeface="Arial" pitchFamily="34" charset="0"/>
                <a:ea typeface="Arial" pitchFamily="34" charset="-122"/>
                <a:cs typeface="Arial" pitchFamily="34" charset="-120"/>
              </a:rPr>
              <a:t>• Log in as Professional. Show dynamic discovery fetching only registered talent from PostgreSQL with zero mock data.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1E293B"/>
          </a:solidFill>
          <a:ln w="25400">
            <a:solidFill>
              <a:srgbClr val="7C3AED"/>
            </a:solidFill>
            <a:prstDash val="solid"/>
          </a:ln>
        </p:spPr>
      </p:sp>
      <p:sp>
        <p:nvSpPr>
          <p:cNvPr id="3" name="Text 1"/>
          <p:cNvSpPr/>
          <p:nvPr/>
        </p:nvSpPr>
        <p:spPr>
          <a:xfrm>
            <a:off x="731520" y="137160"/>
            <a:ext cx="8686800" cy="502920"/>
          </a:xfrm>
          <a:prstGeom prst="rect">
            <a:avLst/>
          </a:prstGeom>
          <a:noFill/>
          <a:ln/>
        </p:spPr>
        <p:txBody>
          <a:bodyPr wrap="square" rtlCol="0" anchor="ctr"/>
          <a:lstStyle/>
          <a:p>
            <a:pPr indent="0" marL="0">
              <a:buNone/>
            </a:pPr>
            <a:r>
              <a:rPr lang="en-US" sz="2200" b="1" dirty="0">
                <a:solidFill>
                  <a:srgbClr val="F8FAFC"/>
                </a:solidFill>
                <a:latin typeface="Arial" pitchFamily="34" charset="0"/>
                <a:ea typeface="Arial" pitchFamily="34" charset="-122"/>
                <a:cs typeface="Arial" pitchFamily="34" charset="-120"/>
              </a:rPr>
              <a:t>12. Conclusion, Engineering Impact &amp; Future Roadmap</a:t>
            </a:r>
            <a:endParaRPr lang="en-US" sz="2200" dirty="0"/>
          </a:p>
        </p:txBody>
      </p:sp>
      <p:sp>
        <p:nvSpPr>
          <p:cNvPr id="4" name="Text 2"/>
          <p:cNvSpPr/>
          <p:nvPr/>
        </p:nvSpPr>
        <p:spPr>
          <a:xfrm>
            <a:off x="731520" y="594360"/>
            <a:ext cx="86868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Project achievements and upcoming commercial enhancements</a:t>
            </a:r>
            <a:endParaRPr lang="en-US" sz="1200" dirty="0"/>
          </a:p>
        </p:txBody>
      </p:sp>
      <p:sp>
        <p:nvSpPr>
          <p:cNvPr id="5" name="Text 3"/>
          <p:cNvSpPr/>
          <p:nvPr/>
        </p:nvSpPr>
        <p:spPr>
          <a:xfrm>
            <a:off x="8686800" y="365760"/>
            <a:ext cx="2926080" cy="27432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BookMyStars Enterprise Architecture</a:t>
            </a:r>
            <a:endParaRPr lang="en-US" sz="1000" dirty="0"/>
          </a:p>
        </p:txBody>
      </p:sp>
      <p:sp>
        <p:nvSpPr>
          <p:cNvPr id="6" name="Shape 4"/>
          <p:cNvSpPr/>
          <p:nvPr/>
        </p:nvSpPr>
        <p:spPr>
          <a:xfrm>
            <a:off x="731520" y="1371600"/>
            <a:ext cx="5120640" cy="4663440"/>
          </a:xfrm>
          <a:prstGeom prst="rect">
            <a:avLst/>
          </a:prstGeom>
          <a:solidFill>
            <a:srgbClr val="1E293B"/>
          </a:solidFill>
          <a:ln w="12700">
            <a:solidFill>
              <a:srgbClr val="10B981"/>
            </a:solidFill>
            <a:prstDash val="solid"/>
          </a:ln>
        </p:spPr>
      </p:sp>
      <p:sp>
        <p:nvSpPr>
          <p:cNvPr id="7" name="Text 5"/>
          <p:cNvSpPr/>
          <p:nvPr/>
        </p:nvSpPr>
        <p:spPr>
          <a:xfrm>
            <a:off x="1005840" y="1645920"/>
            <a:ext cx="4572000" cy="365760"/>
          </a:xfrm>
          <a:prstGeom prst="rect">
            <a:avLst/>
          </a:prstGeom>
          <a:noFill/>
          <a:ln/>
        </p:spPr>
        <p:txBody>
          <a:bodyPr wrap="square" rtlCol="0" anchor="ctr"/>
          <a:lstStyle/>
          <a:p>
            <a:pPr indent="0" marL="0">
              <a:buNone/>
            </a:pPr>
            <a:r>
              <a:rPr lang="en-US" sz="1500" b="1" dirty="0">
                <a:solidFill>
                  <a:srgbClr val="10B981"/>
                </a:solidFill>
                <a:latin typeface="Arial" pitchFamily="34" charset="0"/>
                <a:ea typeface="Arial" pitchFamily="34" charset="-122"/>
                <a:cs typeface="Arial" pitchFamily="34" charset="-120"/>
              </a:rPr>
              <a:t>🏆 Key Engineering Achievements</a:t>
            </a:r>
            <a:endParaRPr lang="en-US" sz="1500" dirty="0"/>
          </a:p>
        </p:txBody>
      </p:sp>
      <p:sp>
        <p:nvSpPr>
          <p:cNvPr id="8" name="Text 6"/>
          <p:cNvSpPr/>
          <p:nvPr/>
        </p:nvSpPr>
        <p:spPr>
          <a:xfrm>
            <a:off x="1005840" y="2103120"/>
            <a:ext cx="4572000" cy="374904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Enterprise Spring Boot 3 Backend:
</a:t>
            </a:r>
            <a:pPr indent="0" marL="0">
              <a:buNone/>
            </a:pPr>
            <a:r>
              <a:rPr lang="en-US" sz="1150" dirty="0">
                <a:solidFill>
                  <a:srgbClr val="94A3B8"/>
                </a:solidFill>
                <a:latin typeface="Arial" pitchFamily="34" charset="0"/>
                <a:ea typeface="Arial" pitchFamily="34" charset="-122"/>
                <a:cs typeface="Arial" pitchFamily="34" charset="-120"/>
              </a:rPr>
              <a:t>Robust REST architecture with JWT authentication, Spring Data JPA, and PostgreSQL.
</a:t>
            </a:r>
            <a:pPr indent="0" marL="0">
              <a:buNone/>
            </a:pPr>
            <a:r>
              <a:rPr lang="en-US" sz="1150" b="1" dirty="0">
                <a:solidFill>
                  <a:srgbClr val="F8FAFC"/>
                </a:solidFill>
                <a:latin typeface="Arial" pitchFamily="34" charset="0"/>
                <a:ea typeface="Arial" pitchFamily="34" charset="-122"/>
                <a:cs typeface="Arial" pitchFamily="34" charset="-120"/>
              </a:rPr>
              <a:t>• Instagram-Style Privacy Engine:
</a:t>
            </a:r>
            <a:pPr indent="0" marL="0">
              <a:buNone/>
            </a:pPr>
            <a:r>
              <a:rPr lang="en-US" sz="1150" dirty="0">
                <a:solidFill>
                  <a:srgbClr val="94A3B8"/>
                </a:solidFill>
                <a:latin typeface="Arial" pitchFamily="34" charset="0"/>
                <a:ea typeface="Arial" pitchFamily="34" charset="-122"/>
                <a:cs typeface="Arial" pitchFamily="34" charset="-120"/>
              </a:rPr>
              <a:t>Toggle switch next to photo, locked viewer screen, access request modal, and backend data stripping.
</a:t>
            </a:r>
            <a:pPr indent="0" marL="0">
              <a:buNone/>
            </a:pPr>
            <a:r>
              <a:rPr lang="en-US" sz="1150" b="1" dirty="0">
                <a:solidFill>
                  <a:srgbClr val="F8FAFC"/>
                </a:solidFill>
                <a:latin typeface="Arial" pitchFamily="34" charset="0"/>
                <a:ea typeface="Arial" pitchFamily="34" charset="-122"/>
                <a:cs typeface="Arial" pitchFamily="34" charset="-120"/>
              </a:rPr>
              <a:t>• 100MB 4K Media Pipeline:
</a:t>
            </a:r>
            <a:pPr indent="0" marL="0">
              <a:buNone/>
            </a:pPr>
            <a:r>
              <a:rPr lang="en-US" sz="1150" dirty="0">
                <a:solidFill>
                  <a:srgbClr val="94A3B8"/>
                </a:solidFill>
                <a:latin typeface="Arial" pitchFamily="34" charset="0"/>
                <a:ea typeface="Arial" pitchFamily="34" charset="-122"/>
                <a:cs typeface="Arial" pitchFamily="34" charset="-120"/>
              </a:rPr>
              <a:t>Zero-server FFmpeg overhead using client-side HTML5 Canvas frame extraction.
</a:t>
            </a:r>
            <a:pPr indent="0" marL="0">
              <a:buNone/>
            </a:pPr>
            <a:r>
              <a:rPr lang="en-US" sz="1150" b="1" dirty="0">
                <a:solidFill>
                  <a:srgbClr val="F8FAFC"/>
                </a:solidFill>
                <a:latin typeface="Arial" pitchFamily="34" charset="0"/>
                <a:ea typeface="Arial" pitchFamily="34" charset="-122"/>
                <a:cs typeface="Arial" pitchFamily="34" charset="-120"/>
              </a:rPr>
              <a:t>• 100% Dynamic Architecture:
</a:t>
            </a:r>
            <a:pPr indent="0" marL="0">
              <a:buNone/>
            </a:pPr>
            <a:r>
              <a:rPr lang="en-US" sz="1150" dirty="0">
                <a:solidFill>
                  <a:srgbClr val="94A3B8"/>
                </a:solidFill>
                <a:latin typeface="Arial" pitchFamily="34" charset="0"/>
                <a:ea typeface="Arial" pitchFamily="34" charset="-122"/>
                <a:cs typeface="Arial" pitchFamily="34" charset="-120"/>
              </a:rPr>
              <a:t>Zero dummy data; queries live registered talent database.</a:t>
            </a:r>
            <a:endParaRPr lang="en-US" sz="1150" dirty="0"/>
          </a:p>
        </p:txBody>
      </p:sp>
      <p:sp>
        <p:nvSpPr>
          <p:cNvPr id="9" name="Shape 7"/>
          <p:cNvSpPr/>
          <p:nvPr/>
        </p:nvSpPr>
        <p:spPr>
          <a:xfrm>
            <a:off x="6217920" y="1371600"/>
            <a:ext cx="5212080" cy="4663440"/>
          </a:xfrm>
          <a:prstGeom prst="rect">
            <a:avLst/>
          </a:prstGeom>
          <a:solidFill>
            <a:srgbClr val="1E293B"/>
          </a:solidFill>
          <a:ln w="12700">
            <a:solidFill>
              <a:srgbClr val="38BDF8"/>
            </a:solidFill>
            <a:prstDash val="solid"/>
          </a:ln>
        </p:spPr>
      </p:sp>
      <p:sp>
        <p:nvSpPr>
          <p:cNvPr id="10" name="Text 8"/>
          <p:cNvSpPr/>
          <p:nvPr/>
        </p:nvSpPr>
        <p:spPr>
          <a:xfrm>
            <a:off x="6492240" y="1645920"/>
            <a:ext cx="4663440" cy="365760"/>
          </a:xfrm>
          <a:prstGeom prst="rect">
            <a:avLst/>
          </a:prstGeom>
          <a:noFill/>
          <a:ln/>
        </p:spPr>
        <p:txBody>
          <a:bodyPr wrap="square" rtlCol="0" anchor="ctr"/>
          <a:lstStyle/>
          <a:p>
            <a:pPr indent="0" marL="0">
              <a:buNone/>
            </a:pPr>
            <a:r>
              <a:rPr lang="en-US" sz="1500" b="1" dirty="0">
                <a:solidFill>
                  <a:srgbClr val="38BDF8"/>
                </a:solidFill>
                <a:latin typeface="Arial" pitchFamily="34" charset="0"/>
                <a:ea typeface="Arial" pitchFamily="34" charset="-122"/>
                <a:cs typeface="Arial" pitchFamily="34" charset="-120"/>
              </a:rPr>
              <a:t>🚀 Production Roadmap</a:t>
            </a:r>
            <a:endParaRPr lang="en-US" sz="1500" dirty="0"/>
          </a:p>
        </p:txBody>
      </p:sp>
      <p:sp>
        <p:nvSpPr>
          <p:cNvPr id="11" name="Text 9"/>
          <p:cNvSpPr/>
          <p:nvPr/>
        </p:nvSpPr>
        <p:spPr>
          <a:xfrm>
            <a:off x="6492240" y="2103120"/>
            <a:ext cx="4663440" cy="3749040"/>
          </a:xfrm>
          <a:prstGeom prst="rect">
            <a:avLst/>
          </a:prstGeom>
          <a:noFill/>
          <a:ln/>
        </p:spPr>
        <p:txBody>
          <a:bodyPr wrap="square" rtlCol="0" anchor="ctr"/>
          <a:lstStyle/>
          <a:p>
            <a:pPr indent="0" marL="0">
              <a:buNone/>
            </a:pPr>
            <a:r>
              <a:rPr lang="en-US" sz="1150" b="1" dirty="0">
                <a:solidFill>
                  <a:srgbClr val="F8FAFC"/>
                </a:solidFill>
                <a:latin typeface="Arial" pitchFamily="34" charset="0"/>
                <a:ea typeface="Arial" pitchFamily="34" charset="-122"/>
                <a:cs typeface="Arial" pitchFamily="34" charset="-120"/>
              </a:rPr>
              <a:t>• Escrow Payments (Razorpay / Stripe):
</a:t>
            </a:r>
            <a:pPr indent="0" marL="0">
              <a:buNone/>
            </a:pPr>
            <a:r>
              <a:rPr lang="en-US" sz="1150" dirty="0">
                <a:solidFill>
                  <a:srgbClr val="94A3B8"/>
                </a:solidFill>
                <a:latin typeface="Arial" pitchFamily="34" charset="0"/>
                <a:ea typeface="Arial" pitchFamily="34" charset="-122"/>
                <a:cs typeface="Arial" pitchFamily="34" charset="-120"/>
              </a:rPr>
              <a:t>Hold shoot booking advance deposits in escrow until production confirms shoot completion.
</a:t>
            </a:r>
            <a:pPr indent="0" marL="0">
              <a:buNone/>
            </a:pPr>
            <a:r>
              <a:rPr lang="en-US" sz="1150" b="1" dirty="0">
                <a:solidFill>
                  <a:srgbClr val="F8FAFC"/>
                </a:solidFill>
                <a:latin typeface="Arial" pitchFamily="34" charset="0"/>
                <a:ea typeface="Arial" pitchFamily="34" charset="-122"/>
                <a:cs typeface="Arial" pitchFamily="34" charset="-120"/>
              </a:rPr>
              <a:t>• Real-Time WebSockets Messaging:
</a:t>
            </a:r>
            <a:pPr indent="0" marL="0">
              <a:buNone/>
            </a:pPr>
            <a:r>
              <a:rPr lang="en-US" sz="1150" dirty="0">
                <a:solidFill>
                  <a:srgbClr val="94A3B8"/>
                </a:solidFill>
                <a:latin typeface="Arial" pitchFamily="34" charset="0"/>
                <a:ea typeface="Arial" pitchFamily="34" charset="-122"/>
                <a:cs typeface="Arial" pitchFamily="34" charset="-120"/>
              </a:rPr>
              <a:t>Instant chat between casting directors and talents with live read receipts.
</a:t>
            </a:r>
            <a:pPr indent="0" marL="0">
              <a:buNone/>
            </a:pPr>
            <a:r>
              <a:rPr lang="en-US" sz="1150" b="1" dirty="0">
                <a:solidFill>
                  <a:srgbClr val="F8FAFC"/>
                </a:solidFill>
                <a:latin typeface="Arial" pitchFamily="34" charset="0"/>
                <a:ea typeface="Arial" pitchFamily="34" charset="-122"/>
                <a:cs typeface="Arial" pitchFamily="34" charset="-120"/>
              </a:rPr>
              <a:t>• Mobile App (React Native):
</a:t>
            </a:r>
            <a:pPr indent="0" marL="0">
              <a:buNone/>
            </a:pPr>
            <a:r>
              <a:rPr lang="en-US" sz="1150" dirty="0">
                <a:solidFill>
                  <a:srgbClr val="94A3B8"/>
                </a:solidFill>
                <a:latin typeface="Arial" pitchFamily="34" charset="0"/>
                <a:ea typeface="Arial" pitchFamily="34" charset="-122"/>
                <a:cs typeface="Arial" pitchFamily="34" charset="-120"/>
              </a:rPr>
              <a:t>Push notifications for shoot bookings and profile view approvals.
</a:t>
            </a:r>
            <a:pPr indent="0" marL="0">
              <a:buNone/>
            </a:pPr>
            <a:r>
              <a:rPr lang="en-US" sz="1150" b="1" dirty="0">
                <a:solidFill>
                  <a:srgbClr val="F8FAFC"/>
                </a:solidFill>
                <a:latin typeface="Arial" pitchFamily="34" charset="0"/>
                <a:ea typeface="Arial" pitchFamily="34" charset="-122"/>
                <a:cs typeface="Arial" pitchFamily="34" charset="-120"/>
              </a:rPr>
              <a:t>• AI Casting Matchmaker:
</a:t>
            </a:r>
            <a:pPr indent="0" marL="0">
              <a:buNone/>
            </a:pPr>
            <a:r>
              <a:rPr lang="en-US" sz="1150" dirty="0">
                <a:solidFill>
                  <a:srgbClr val="94A3B8"/>
                </a:solidFill>
                <a:latin typeface="Arial" pitchFamily="34" charset="0"/>
                <a:ea typeface="Arial" pitchFamily="34" charset="-122"/>
                <a:cs typeface="Arial" pitchFamily="34" charset="-120"/>
              </a:rPr>
              <a:t>Smart recommendations matching script requirements to physical measurements.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BookMyStars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BookMyStars - Full-Stack Architecture &amp; Module Presentation</dc:title>
  <dc:subject>PptxGenJS Presentation</dc:subject>
  <dc:creator>BookMyStars Team</dc:creator>
  <cp:lastModifiedBy>BookMyStars Team</cp:lastModifiedBy>
  <cp:revision>1</cp:revision>
  <dcterms:created xsi:type="dcterms:W3CDTF">2026-10-11T14:21:45Z</dcterms:created>
  <dcterms:modified xsi:type="dcterms:W3CDTF">2026-10-11T14:21:45Z</dcterms:modified>
</cp:coreProperties>
</file>